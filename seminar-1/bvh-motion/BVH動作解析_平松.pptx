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9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44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Relationship Id="rId5" Type="http://schemas.openxmlformats.org/officeDocument/2006/relationships/image" Target="../media/image50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Relationship Id="rId5" Type="http://schemas.openxmlformats.org/officeDocument/2006/relationships/image" Target="../media/image53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4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6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640080"/>
            <a:ext cx="3200400" cy="10972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2286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2C4198"/>
                </a:solidFill>
                <a:latin typeface="Hiragino Sans"/>
              </a:rPr>
              <a:t>知能情報科学セミナーⅠ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2C4198"/>
                </a:solidFill>
                <a:latin typeface="Hiragino Sans"/>
              </a:rPr>
              <a:t>モーションキャプチャによる
歩行・走行・スキップの定量解析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572000"/>
            <a:ext cx="18288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55555"/>
                </a:solidFill>
                <a:latin typeface="Hiragino Sans"/>
              </a:rPr>
              <a:t>── 急いでいる時はスキップで移動することをお勧めします ──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1815"/>
                </a:solidFill>
                <a:latin typeface="Hiragino Sans"/>
              </a:rPr>
              <a:t>情報学部 情報科学科 3年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平松 瑠希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 / 54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01 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4198"/>
                </a:solidFill>
                <a:latin typeface="Hiragino Sans"/>
              </a:rPr>
              <a:t>背景・目的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300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231815"/>
                </a:solidFill>
                <a:latin typeface="Hiragino Sans"/>
              </a:rPr>
              <a:t>本レポートは、知能情報科学セミナーⅠで学んだ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FFT に基づく自己相関 (ACF) ・相互相関 (CCF) の理論を実データに適用する実践演習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0175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研究の問い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6616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「歩く・走る・スキップ」の動作にはどのようなリズム特性があるか？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同じ動作でも個人差・左右差はどう現れるか？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歩き方の癖・腕振りパターンは ACF でどこまで定量化できるか？</a:t>
            </a:r>
          </a:p>
          <a:p>
            <a:pPr algn="l">
              <a:spcAft>
                <a:spcPts val="500"/>
              </a:spcAft>
            </a:pPr>
            <a:r>
              <a:rPr sz="1600">
                <a:solidFill>
                  <a:srgbClr val="231815"/>
                </a:solidFill>
                <a:latin typeface="Hiragino Sans"/>
              </a:rPr>
              <a:t>●  そして、最も移動効率の良い動作は何か？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 / 54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02 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4198"/>
                </a:solidFill>
                <a:latin typeface="Hiragino Sans"/>
              </a:rPr>
              <a:t>計測データ概要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>
                <a:solidFill>
                  <a:srgbClr val="231815"/>
                </a:solidFill>
                <a:latin typeface="Hiragino Sans"/>
              </a:rPr>
              <a:t>●  計測機器: mocopi（ソニー製モーションキャプチャ・IMU センサー 6 個）</a:t>
            </a: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31815"/>
                </a:solidFill>
                <a:latin typeface="Hiragino Sans"/>
              </a:rPr>
              <a:t>●  フォーマット: BVH (BioVision Hierarchy) / 60 Hz サンプリング</a:t>
            </a: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31815"/>
                </a:solidFill>
                <a:latin typeface="Hiragino Sans"/>
              </a:rPr>
              <a:t>●  被験者: 三橋青空・長岡翔太・平松瑠希・松田宣久 の 4 名</a:t>
            </a: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31815"/>
                </a:solidFill>
                <a:latin typeface="Hiragino Sans"/>
              </a:rPr>
              <a:t>●  動作: 歩く・走る・スキップ × 4 名 = 計 12 サンプル</a:t>
            </a:r>
          </a:p>
          <a:p>
            <a:pPr algn="l">
              <a:spcAft>
                <a:spcPts val="500"/>
              </a:spcAft>
            </a:pPr>
            <a:r>
              <a:rPr sz="1500">
                <a:solidFill>
                  <a:srgbClr val="231815"/>
                </a:solidFill>
                <a:latin typeface="Hiragino Sans"/>
              </a:rPr>
              <a:t>●  記録項目: root の絶対位置 + 25 関節の回転角（IMU 実測 6・AI 補完 19）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5029200"/>
            <a:ext cx="11277295" cy="128016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1663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主要な解析対象信号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532120"/>
            <a:ext cx="1097280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Hiragino Sans"/>
              </a:rPr>
              <a:t>主：root の鉛直加速度（歩行リズム検出） / 副：左右足首の Xrotation（背屈・底屈）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 / 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03 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4198"/>
                </a:solidFill>
                <a:latin typeface="Hiragino Sans"/>
              </a:rPr>
              <a:t>解析手法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92024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① ストライド周期 T（ACF）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346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Menlo"/>
              </a:rPr>
              <a:t>ACF(τ) = IFFT(|X(f)|²)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029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ウィーナー＝ヒンチン定理
最初の有意ピーク（&gt;0.15）を T と推定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92024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② 歩調・歩数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8346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Menlo"/>
              </a:rPr>
              <a:t>cadence = 1 / T  [Hz]
steps = (duration / T) ×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5029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1 秒あたりのステップ数
計測時間内の総歩数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920240"/>
            <a:ext cx="365760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49055" y="210312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③ 左右対称性スコア（CCF）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49055" y="2834640"/>
            <a:ext cx="3291840" cy="2194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Menlo"/>
              </a:rPr>
              <a:t>CCF(τ) = IFFT(X*(f) · Y(f))
Score = 0.6·RMS比
  + 0.3·位相差 + 0.1·CCFピーク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5029200"/>
            <a:ext cx="32918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100 点満点の対称性スコア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 / 54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2C4198"/>
                </a:solidFill>
                <a:latin typeface="Hiragino Sans"/>
              </a:rPr>
              <a:t>瑠希・歩くを教材に、グラフの読み方を学ぶ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10312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231815"/>
                </a:solidFill>
                <a:latin typeface="Hiragino Sans"/>
              </a:rPr>
              <a:t>12 サンプル × 各 3 枚 = 36 枚以上のグラフが続く。
ここでは「瑠希・歩く」を題材に、グラフを 6 ステップで読み解く方法を示す。
ここで読み方を身につければ、後続の 11 サンプルも同じ要領で読める。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297680"/>
            <a:ext cx="11430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1  腰の上下動を見る ─ 歩行リズムの正体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2  足首のリズムは腰の「半分」 ─ 2 倍周期の謎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3  左右の足を重ねる ─ 半周期ずれて動く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4  ACF でリズムを数値化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5  CCF で左右対称性を数値化</a:t>
            </a:r>
          </a:p>
          <a:p>
            <a:pPr algn="l">
              <a:spcAft>
                <a:spcPts val="500"/>
              </a:spcAft>
            </a:pPr>
            <a:r>
              <a:rPr sz="1300">
                <a:solidFill>
                  <a:srgbClr val="2C4198"/>
                </a:solidFill>
                <a:latin typeface="Hiragino Sans"/>
              </a:rPr>
              <a:t>●  STEP 6  対称性スコアの内訳 ─ 「何が個性か」を読む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5 / 54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腰の上下動を見る ─ 歩行リズムの正体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1_root_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82296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-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ピーク間隔の平均 ≈ 0.56 s ＝ 半ストライド（T/2）。腰は 1 ストライドの間に 2 回上下する。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6 / 54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足首のリズムは腰の「半分」 ─ 2 倍周期の謎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2_root_vs_fo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0151" y="1691640"/>
            <a:ext cx="8851392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82296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-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左足は 1 ストライドに 1 回しか動かないが、腰は 2 回上下する。足首周期 1.05 s ≈ 腰周期 0.53 s × 2。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7 / 54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左右の足を重ねる ─ 半周期ずれて動く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3_left_r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82296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-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左右ピーク間 ≈ 0.58 s ＝ T/2。これが「交互ステップ」の数学的定義。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8 / 54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ACF でリズムを数値化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4_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82296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-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τ = 0.53 s でピーク → ストライド周期 T。歩調 1.87 Hz ＝ 112 BPM。2 秒以上ピークが残る = 規則的で安定。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9 / 54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CCF で左右対称性を数値化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5_c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8407" y="1691640"/>
            <a:ext cx="983488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82296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-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ピーク位置 -0.517 s ≈ 理想 -T/2 = -0.533 s。差わずか 0.016 s ─ 完璧な交互ステップ。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10 / 54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READING GUIDE  ─  STEP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対称性スコアの内訳 ─ 「何が個性か」を読む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g_06_sco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2487" y="1691640"/>
            <a:ext cx="8046720" cy="40233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852160"/>
            <a:ext cx="11277295" cy="82296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60350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4008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ここがポイント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766560"/>
            <a:ext cx="10728655" cy="-914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84.3 点。タイミングはほぼ満点、RMS 比 0.81 で 19% の左右振幅差 → これが歩き方の癖。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11 / 54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連続ウェーブレット変換（CWT）─ 時間軸でリズムの揺らぎを追う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1815"/>
                </a:solidFill>
                <a:latin typeface="Hiragino Sans"/>
              </a:rPr>
              <a:t>ACF は「区間全体の平均的リズム」を 1 つの数値に落とすが、時間内のリズムの揺らぎは見えない。
CWT は信号を 時間 × 周波数 の 2 次元マップ（ヒートマップ）に展開する。
「いつ・どの周波数が強かったか」が色で可視化される。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114800"/>
            <a:ext cx="11277295" cy="201168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2519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本レポートでの設定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617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母ウェーブレット: Morlet（時間-周波数バランス◎）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入力信号: 腰（root）の鉛直加速度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解析周波数帯: 0.5 〜 5 Hz（歩く 〜 走るをカバー）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4 人分のパワーを揃え正規化 → 平均 → 共通リズム帯を抽出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12 / 54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CWT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CWT - 歩く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1.90 Hz（114 BPM）、個人差 σ = 0.32 Hz ─ 最も個性が出る</a:t>
            </a:r>
          </a:p>
        </p:txBody>
      </p:sp>
      <p:pic>
        <p:nvPicPr>
          <p:cNvPr id="8" name="Picture 7" descr="walk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1920240"/>
            <a:ext cx="585216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1.5〜2.2 Hz の幅で 4 人がばらつく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歩行は日常動作ゆえに個性が許容される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13 / 54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CWT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CWT - 走る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3.06 Hz（184 BPM）、個人差 σ = 0.11 Hz ─ 5 秒後にロックオン</a:t>
            </a:r>
          </a:p>
        </p:txBody>
      </p:sp>
      <p:pic>
        <p:nvPicPr>
          <p:cNvPr id="8" name="Picture 7" descr="run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1920240"/>
            <a:ext cx="585216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0〜5 秒は加速期、5 秒以降に 3 Hz の明るい横帯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4 人とも同タイミングで同周波数に収束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14 / 54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CWT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CWT - スキップ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2.18 Hz、個人差 σ = 0.08 Hz ─ 全動作中最小</a:t>
            </a:r>
          </a:p>
        </p:txBody>
      </p:sp>
      <p:pic>
        <p:nvPicPr>
          <p:cNvPr id="8" name="Picture 7" descr="skip_a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9767" y="1920240"/>
            <a:ext cx="5852160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複数の周波数帯（基本リズム + 高調波）が共存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「ステップ + ホップ」の複合動作だが優位周波数は最も揃う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15 / 54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① 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スキップは「人類共通リズム」 ─ 誰でも自然にできる動き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動作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4人平均 優位周波数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個人差 σ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解釈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歩く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1.90 Hz (114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±0.32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個人差 大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走る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3.06 Hz (184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±0.11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5 秒後にロックオン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スキップ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2.18 Hz (131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±0.08 Hz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個人差 最小 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937760"/>
            <a:ext cx="11277295" cy="146304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スキップ推奨の根拠 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スキップは人類共通リズム ─ 習得不要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個人差 σ = 0.08 Hz は 3 動作中最小。4 人とも同じリズム帯（約 2.18 Hz）に収束。練習なしで誰でも同じリズムでスキップできる ─ 移動手段としての習得コストがゼロ。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16 / 54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動的時間伸縮（DTW）─ 波形そのものの距離を測る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4300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231815"/>
                </a:solidFill>
                <a:latin typeface="Hiragino Sans"/>
              </a:rPr>
              <a:t>ACF が「自分自身の周期」、CWT が「時間 × 周波数」を見るのに対し、
DTW は「2 つの波形の形そのもの」を比較する。
時間軸を伸び縮みさせて最も似た対応関係を探し、距離をスカラ値で出す。
「誰と誰がどれくらい似てるか」を 4×4 マトリクスで一望できる。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572000"/>
            <a:ext cx="11277295" cy="155448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本レポートでの設定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2920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各人の左足首 Xrot から 1 ストライド分 → 200 サンプルにリサンプル + 振幅正規化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4 人 × 4 人 = 6 ペアで DTW 距離を計算 → 動作別マトリクス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17 / 54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DTW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4 人ペアワイズ DTW 距離マトリクス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stance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1691640"/>
            <a:ext cx="10058400" cy="33659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色が薄い（黄）ほど波形が似ている、濃い（赤）ほど違う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走るの Sora ⇔ Nori だけ 216.3 と異常値 ─ 他は 23〜82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18 / 54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DTW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動作ごとの平均距離 ─ 「ばらつき」で比較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istance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8822" y="1691640"/>
            <a:ext cx="6434050" cy="39319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歩く 30.5 ± 14.5 / 走る 78.2 ± 65.7 / スキップ 35.3 ± 6.4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標準偏差の小ささ = 4 人がどれだけ揃っているか ─ スキップが最小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19 / 54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DTW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DTW の中身 ─ Ruki ⇔ Nori（歩く）の例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warping_exam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6647" y="1691640"/>
            <a:ext cx="10058400" cy="35922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左：2 人の波形と DTW の対応付け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右：累積コスト行列。赤線が最適パス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20 / 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★ NEW ANALYSIS ② 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スキップは「波形」も人類共通 ─ 動きの形が決まっている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2103120"/>
          <a:ext cx="1097280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動作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DTW 距離 平均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ばらつき σ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解釈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歩く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30.5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±14.5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個人差 中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走る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78.2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±65.7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Sora⇔Nori 外れ値あり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スキップ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35.3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±6.4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ばらつき 最小 ★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937760"/>
            <a:ext cx="11277295" cy="1463040"/>
          </a:xfrm>
          <a:prstGeom prst="roundRect">
            <a:avLst>
              <a:gd name="adj" fmla="val 4000"/>
            </a:avLst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5120640"/>
            <a:ext cx="1645920" cy="32004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/>
          <a:lstStyle/>
          <a:p>
            <a:pPr algn="ctr"/>
            <a:r>
              <a:rPr sz="1000" b="1">
                <a:solidFill>
                  <a:srgbClr val="2C4198"/>
                </a:solidFill>
                <a:latin typeface="Hiragino Sans"/>
              </a:rPr>
              <a:t>スキップ推奨の根拠 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486400"/>
            <a:ext cx="10728655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スキップは波形も 4 人で揃う ─ 動作の安定性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85216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Hiragino Sans"/>
              </a:rPr>
              <a:t>DTW 距離のばらつき σ = ±6.4 は 3 動作中最小。4 人とも同じ波形をなぞる。CWT（周波数）と DTW（波形）の 2 つの独立した手法が同じ結論。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21 / 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04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三橋 青空（Sora） の全動作データ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動作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時間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T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歩調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歩数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対称性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速度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CV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歩く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13.6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0.467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2.14 Hz (128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6.43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0.018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走る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20.2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0.317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3.16 Hz (190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93.4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11.63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0.026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スキップ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19.1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0.583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1.71 Hz (103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92.6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11.65 km/h 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0.737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572000"/>
            <a:ext cx="11277295" cy="164592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Hiragino Sans"/>
              </a:rPr>
              <a:t>全動作で対称性スコア 88 点以上。歩く・走るの CV が極めて低い → 非常に安定したリズミカルな動作。スキップが走るより僅かに速い。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22 / 54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04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長岡 翔太（Shota） の全動作データ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動作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時間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T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歩調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歩数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対称性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速度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CV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歩く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53.0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0.517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1.94 Hz (116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65.8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1.97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0.015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走る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29.3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0.317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3.16 Hz (190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10.37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0.663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スキップ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28.8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0.617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1.62 Hz (97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90.0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10.25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1.894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572000"/>
            <a:ext cx="11277295" cy="164592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Hiragino Sans"/>
              </a:rPr>
              <a:t>走るリズム 190 BPM で青空と一致。歩く対称性のみ低スコア。スキップ CV=1.89 と動作のばらつきが大きい。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23 / 54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04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平松 瑠希（Ruki） の全動作データ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動作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時間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T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歩調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歩数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対称性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速度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CV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歩く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17.2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0.533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1.87 Hz (112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7.21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0.016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走る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25.3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0.350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2.86 Hz (171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79.7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10.28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0.017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スキップ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28.3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0.667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1.50 Hz (90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77.1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9.21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0.012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572000"/>
            <a:ext cx="11277295" cy="164592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Hiragino Sans"/>
              </a:rPr>
              <a:t>走るは 171 BPM で 4 名中唯一の例外。全動作で CV ≤ 0.017 と極めて安定。歩くで 7.21 km/h は 4 名中最速。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24 / 54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04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松田 宣久（Nori） の全動作データ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828800"/>
          <a:ext cx="112471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  <a:gridCol w="1405890"/>
              </a:tblGrid>
              <a:tr h="502920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動作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時間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T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歩調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歩数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対称性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速度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Hiragino Sans"/>
                        </a:rPr>
                        <a:t>CV</a:t>
                      </a:r>
                    </a:p>
                  </a:txBody>
                  <a:tcPr>
                    <a:solidFill>
                      <a:srgbClr val="2C419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歩く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19.0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0.483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2.07 Hz (124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4.91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0.526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走る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27.4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0.317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3.16 Hz (190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9.45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1.468</a:t>
                      </a:r>
                    </a:p>
                  </a:txBody>
                  <a:tcPr/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スキップ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30.5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0.633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1.58 Hz (95 BPM)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8.44 km/h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231815"/>
                          </a:solidFill>
                          <a:latin typeface="Hiragino Sans"/>
                        </a:rPr>
                        <a:t>0.334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4572000"/>
            <a:ext cx="11277295" cy="164592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709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C4198"/>
                </a:solidFill>
                <a:latin typeface="Hiragino Sans"/>
              </a:rPr>
              <a:t>特徴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231815"/>
                </a:solidFill>
                <a:latin typeface="Hiragino Sans"/>
              </a:rPr>
              <a:t>走るリズム 190 BPM で青空・翔太と完全一致。拡張解析で全動作の左右非対称度が 0.00% ─ 機械的な左右対称性。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25 / 54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04 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4 名比較で見える 5 つの特徴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11430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>
                <a:solidFill>
                  <a:srgbClr val="231815"/>
                </a:solidFill>
                <a:latin typeface="Hiragino Sans"/>
              </a:rPr>
              <a:t>●  走るペースは 4 人中 3 人が一致 ─ 青空・翔太・宣久 が 3.16 Hz (190 BPM)。瑠希のみ 171 BPM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231815"/>
                </a:solidFill>
                <a:latin typeface="Hiragino Sans"/>
              </a:rPr>
              <a:t>●  歩くペースの個人差は大きい ─ 青空 128 / 宣久 124 / 翔太 116 / 瑠希 112 BPM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231815"/>
                </a:solidFill>
                <a:latin typeface="Hiragino Sans"/>
              </a:rPr>
              <a:t>●  対称性最高は青空・走る（93.4 点）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231815"/>
                </a:solidFill>
                <a:latin typeface="Hiragino Sans"/>
              </a:rPr>
              <a:t>●  動作の安定性は瑠希が最高 ─ 全動作で CV ≤ 0.017</a:t>
            </a:r>
          </a:p>
          <a:p>
            <a:pPr algn="l">
              <a:spcAft>
                <a:spcPts val="500"/>
              </a:spcAft>
            </a:pPr>
            <a:r>
              <a:rPr sz="1400">
                <a:solidFill>
                  <a:srgbClr val="231815"/>
                </a:solidFill>
                <a:latin typeface="Hiragino Sans"/>
              </a:rPr>
              <a:t>●  スキップ速度は走るに近い ─ 全員で 90% 以上、青空は走るを超える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26 / 54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05  DISCOVERY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発見① ─ 走るリズムは個人差を超えて収束する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103120"/>
            <a:ext cx="8503920" cy="3200400"/>
          </a:xfrm>
          <a:prstGeom prst="round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DD000"/>
                </a:solidFill>
                <a:latin typeface="Hiragino Sans"/>
              </a:rPr>
              <a:t>4 名のうち 3 名の走る歩調が完全一致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0" b="1">
                <a:solidFill>
                  <a:srgbClr val="FFFFFF"/>
                </a:solidFill>
                <a:latin typeface="Hiragino Sans"/>
              </a:rPr>
              <a:t>190 BPM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Hiragino Sans"/>
              </a:rPr>
              <a:t>青空・翔太・宣久 = 3.16 Hz / 瑠希のみ 171 BPM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231815"/>
                </a:solidFill>
                <a:latin typeface="Hiragino Sans"/>
              </a:rPr>
              <a:t>170-190 BPM はランニング最適ピッチ域（既存研究と整合） ─ 身体能力差を超えた人類共通の最適リズムが観測された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27 / 54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06 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拡張解析① ─ 左右足首 ACF による左右差の詳細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左右の足首 Xrot 各々の ACF から周期非対称度を算出</a:t>
            </a:r>
          </a:p>
        </p:txBody>
      </p:sp>
      <p:pic>
        <p:nvPicPr>
          <p:cNvPr id="8" name="Picture 7" descr="ext_lr_foot_a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4873" y="2011680"/>
            <a:ext cx="5921949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瑠希・宣久は全動作で左右非対称度 0.0%（完璧）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青空の歩くで 66.7%（左右 2 倍関係 ─ 片足/ステップの可能性）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28 / 54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06 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拡張解析② ─ 腕振りパターン（腕⇔足 相互相関）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腕足周期比から、腕振りが足のリズムと同期しているかを確認</a:t>
            </a:r>
          </a:p>
        </p:txBody>
      </p:sp>
      <p:pic>
        <p:nvPicPr>
          <p:cNvPr id="8" name="Picture 7" descr="ext_arm_leg_cc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599" y="2011680"/>
            <a:ext cx="5924496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同期型（青空・瑠希・宣久）─ 歩く・走るで腕足が 1:1 同期、スキップで急変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翔太は歩くで腕振り同期突出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29 / 54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06 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拡張解析③ ─ ACF ピーク減衰率（動作の規則性）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2T/T, 3T/T ピーク比 = どれだけ周期が安定しているか</a:t>
            </a:r>
          </a:p>
        </p:txBody>
      </p:sp>
      <p:pic>
        <p:nvPicPr>
          <p:cNvPr id="8" name="Picture 7" descr="ext_acf_dec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2095" y="2011680"/>
            <a:ext cx="8707505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スキップは「跳ねる」動作で減衰が大きい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走るは減衰が小さい = 周期が長期的に安定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30 / 54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06  EXTENDED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拡張解析④ ─ 動作プロファイル（6 次元レーダー）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歩調・対称性・左右ACF・腕足周期比・速度・CV を 1 枚に集約</a:t>
            </a:r>
          </a:p>
        </p:txBody>
      </p:sp>
      <p:pic>
        <p:nvPicPr>
          <p:cNvPr id="8" name="Picture 7" descr="ext_rad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0185" y="2011680"/>
            <a:ext cx="4811325" cy="3657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760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瑠希・宣久は全動作で左右対称軸が満点</a:t>
            </a:r>
          </a:p>
          <a:p>
            <a:pPr algn="l">
              <a:spcAft>
                <a:spcPts val="500"/>
              </a:spcAft>
            </a:pPr>
            <a:r>
              <a:rPr sz="1100">
                <a:solidFill>
                  <a:srgbClr val="231815"/>
                </a:solidFill>
                <a:latin typeface="Hiragino Sans"/>
              </a:rPr>
              <a:t>●  青空は走るがバランス取れ、翔太は歩くで腕振り同期突出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31 / 54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07  GAIT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歩き方の特徴 ─ 4 名の比較プロファイル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20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三橋 青空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DD000"/>
                </a:solidFill>
                <a:latin typeface="Hiragino Sans"/>
              </a:rPr>
              <a:t>Sora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743200"/>
            <a:ext cx="2377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31815"/>
                </a:solidFill>
                <a:latin typeface="Hiragino Sans"/>
              </a:rPr>
              <a:t>規則的で安定した動作。全動作で CV 極小。スキップが走るより速い特異例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83280" y="182880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8328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1920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長岡 翔太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66160" y="2194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DD000"/>
                </a:solidFill>
                <a:latin typeface="Hiragino Sans"/>
              </a:rPr>
              <a:t>Shota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743200"/>
            <a:ext cx="2377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31815"/>
                </a:solidFill>
                <a:latin typeface="Hiragino Sans"/>
              </a:rPr>
              <a:t>動作モードを切り替える表現力。歩くで対称性 65.8 点（要分析）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2880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1920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平松 瑠希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2194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DD000"/>
                </a:solidFill>
                <a:latin typeface="Hiragino Sans"/>
              </a:rPr>
              <a:t>Ruki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2743200"/>
            <a:ext cx="2377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31815"/>
                </a:solidFill>
                <a:latin typeface="Hiragino Sans"/>
              </a:rPr>
              <a:t>全動作で左右非対称度 0.0%、CV ≤ 0.017。4 名で最も安定した動作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1828800"/>
            <a:ext cx="2743200" cy="438912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35440" y="1828800"/>
            <a:ext cx="2743200" cy="6400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18320" y="192024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Hiragino Sans"/>
              </a:rPr>
              <a:t>松田 宣久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219456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FDD000"/>
                </a:solidFill>
                <a:latin typeface="Hiragino Sans"/>
              </a:rPr>
              <a:t>Nori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743200"/>
            <a:ext cx="23774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231815"/>
                </a:solidFill>
                <a:latin typeface="Hiragino Sans"/>
              </a:rPr>
              <a:t>全動作で左右非対称度 0.0%。機械的な対称性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32 / 54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青空・歩く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ra_walking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Sora_walking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Sora_walking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33 / 54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青空・走る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ra_running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Sora_running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Sora_running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34 / 54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青空・スキップ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ora_skip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Sora_skip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Sora_skip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35 / 54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翔太・歩く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a_walking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Shota_walking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Shota_walking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36 / 54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翔太・走る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_run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Sho_run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Sho_run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37 / 54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翔太・スキップ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hota_skip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Shota_skip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Shota_skip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38 / 54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瑠希・歩く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ki_walk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Ruki_walk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Ruki_walk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39 / 54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瑠希・走る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ki_run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Ruki_run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Ruki_run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40 / 54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瑠希・スキップ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Ruki_skip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Ruki_skip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Ruki_skip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41 / 54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宣久・歩く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ri_walk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Nori_walk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Nori_walk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42 / 54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宣久・走る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ri_run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Nori_run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Nori_run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43 / 54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08  INDIVIDUAL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個別解析: 宣久・スキップ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Nori_skip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725238"/>
            <a:ext cx="3611879" cy="232192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Root 位置・加速度・足首回転角</a:t>
            </a:r>
          </a:p>
        </p:txBody>
      </p:sp>
      <p:pic>
        <p:nvPicPr>
          <p:cNvPr id="9" name="Picture 8" descr="Nori_skip_ac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3370217"/>
            <a:ext cx="3611880" cy="103196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61688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自己相関 ACF</a:t>
            </a:r>
          </a:p>
        </p:txBody>
      </p:sp>
      <p:pic>
        <p:nvPicPr>
          <p:cNvPr id="11" name="Picture 10" descr="Nori_skip_symmetr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6175" y="3484880"/>
            <a:ext cx="3611880" cy="80264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266175" y="612648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C4198"/>
                </a:solidFill>
                <a:latin typeface="Hiragino Sans"/>
              </a:rPr>
              <a:t>左右対称性 CCF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44 / 54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09  SYMMETRY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左右対称性スコア一覧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symmet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6067" y="1828800"/>
            <a:ext cx="8099561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231815"/>
                </a:solidFill>
                <a:latin typeface="Hiragino Sans"/>
              </a:rPr>
              <a:t>瑠希・宣久は全動作で完璧対称（0.0%）、翔太は走る・スキップで完璧、青空は走る・スキップで対称・歩くで 2 倍関係を検出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45 / 54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10  SPEED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移動速度の詳細データ ─ 12 サンプル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spe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8585" y="1691640"/>
            <a:ext cx="8774524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46 / 54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11  KEY FINDING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発見② ─ スキップは走るの 90% 以上の速度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828800" y="2103120"/>
            <a:ext cx="8503920" cy="3200400"/>
          </a:xfrm>
          <a:prstGeom prst="round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28800" y="2377440"/>
            <a:ext cx="8503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DD000"/>
                </a:solidFill>
                <a:latin typeface="Hiragino Sans"/>
              </a:rPr>
              <a:t>4 名の「スキップ ÷ 走る」速度比 平均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017520"/>
            <a:ext cx="8503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0" b="1">
                <a:solidFill>
                  <a:srgbClr val="FFFFFF"/>
                </a:solidFill>
                <a:latin typeface="Hiragino Sans"/>
              </a:rPr>
              <a:t>94.4%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572000"/>
            <a:ext cx="8503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Hiragino Sans"/>
              </a:rPr>
              <a:t>青空 100.2% / 翔太 98.8% / 瑠希 89.6% / 宣久 89.3%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669280"/>
            <a:ext cx="114300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31815"/>
                </a:solidFill>
                <a:latin typeface="Hiragino Sans"/>
              </a:rPr>
              <a:t>全員でスキップは走るの約 90% 以上の速度。青空に至っては走るを超える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47 / 54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12  EFFICIENCY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リズム vs 速度の関係 ─ 4 名比較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chart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8317" y="1691640"/>
            <a:ext cx="8115061" cy="47548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48 / 54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13 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2C4198"/>
                </a:solidFill>
                <a:latin typeface="Hiragino Sans"/>
              </a:rPr>
              <a:t>考察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① 走るリズムの普遍性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1815"/>
                </a:solidFill>
                <a:latin typeface="Hiragino Sans"/>
              </a:rPr>
              <a:t>4 人中 3 人が走る 3.16 Hz (190 BPM) 一致。瑠希のみ 171 BPM。身体能力差を超えた人間共通の最適ピッチを示唆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② 歩き方の個人差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92608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1815"/>
                </a:solidFill>
                <a:latin typeface="Hiragino Sans"/>
              </a:rPr>
              <a:t>左右 ACF・腕足周期比で歩く・スキップに個人差が出る。走るは身体力学的制約が強く 4 名で似通る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56616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③ 4 人それぞれの動作スタイル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1815"/>
                </a:solidFill>
                <a:latin typeface="Hiragino Sans"/>
              </a:rPr>
              <a:t>青空: 規則的・安定 / 翔太: モード切替 / 瑠希: 左右対称 0%・CV 最小 / 宣久: 機械的対称性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52628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④ スキップの優位性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4632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1815"/>
                </a:solidFill>
                <a:latin typeface="Hiragino Sans"/>
              </a:rPr>
              <a:t>経路速度 走るの 90% 以上 / ピッチは走るの約半分 / 対称性スコア 77-93 点 / 左右非対称度 4 人中 3 人で 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486400"/>
            <a:ext cx="11430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C4198"/>
                </a:solidFill>
                <a:latin typeface="Hiragino Sans"/>
              </a:rPr>
              <a:t>⑤ 今後の課題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06440"/>
            <a:ext cx="114300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31815"/>
                </a:solidFill>
                <a:latin typeface="Hiragino Sans"/>
              </a:rPr>
              <a:t>翔太の歩く対称性低下の原因 / サンプル数増加 / エネルギー消費との対応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49 / 54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14  BONUS  ─  TEMPO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C4198"/>
                </a:solidFill>
                <a:latin typeface="Hiragino Sans"/>
              </a:rPr>
              <a:t>スキップのBPMは、心地よいポップスのテンポと一致する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4 名のスキップ BPM 範囲: 90 - 103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68880"/>
            <a:ext cx="3657600" cy="128016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aimyon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マリーゴールド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DD000"/>
                </a:solidFill>
                <a:latin typeface="Hiragino Sans"/>
              </a:rPr>
              <a:t>104 BPM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2468880"/>
            <a:ext cx="3657600" cy="128016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44568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YOASOBI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44568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夜に駆ける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44568" y="3337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DD000"/>
                </a:solidFill>
                <a:latin typeface="Hiragino Sans"/>
              </a:rPr>
              <a:t>130 BPM（疾走）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2468880"/>
            <a:ext cx="3657600" cy="128016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49055" y="256032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Mr.Children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49055" y="288036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innocent world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49055" y="3337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DD000"/>
                </a:solidFill>
                <a:latin typeface="Hiragino Sans"/>
              </a:rPr>
              <a:t>108 BPM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023360"/>
            <a:ext cx="3657600" cy="128016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4114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Official髭男dism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Pretender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92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DD000"/>
                </a:solidFill>
                <a:latin typeface="Hiragino Sans"/>
              </a:rPr>
              <a:t>92 BPM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61688" y="4023360"/>
            <a:ext cx="3657600" cy="128016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44568" y="4114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ヨルシカ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44568" y="4434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夜行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4568" y="4892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DD000"/>
                </a:solidFill>
                <a:latin typeface="Hiragino Sans"/>
              </a:rPr>
              <a:t>100 BPM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6175" y="4023360"/>
            <a:ext cx="3657600" cy="1280160"/>
          </a:xfrm>
          <a:prstGeom prst="roundRect">
            <a:avLst/>
          </a:prstGeom>
          <a:solidFill>
            <a:srgbClr val="F5F8FD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49055" y="411480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55555"/>
                </a:solidFill>
                <a:latin typeface="Hiragino Sans"/>
              </a:rPr>
              <a:t>優里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49055" y="4434840"/>
            <a:ext cx="32918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C4198"/>
                </a:solidFill>
                <a:latin typeface="Hiragino Sans"/>
              </a:rPr>
              <a:t>ドライフラワー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5" y="489204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DD000"/>
                </a:solidFill>
                <a:latin typeface="Hiragino Sans"/>
              </a:rPr>
              <a:t>78 BPM（緩やか）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21792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31815"/>
                </a:solidFill>
                <a:latin typeface="Hiragino Sans"/>
              </a:rPr>
              <a:t>→ スキップのリズムは「気持ちよく聴ける音楽のテンポ」と物理的に同期する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50 / 54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15 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DD000"/>
                </a:solidFill>
                <a:latin typeface="Hiragino Sans"/>
              </a:rPr>
              <a:t>FINAL CONCLUSION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14300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5400" b="1">
                <a:solidFill>
                  <a:srgbClr val="FFFFFF"/>
                </a:solidFill>
                <a:latin typeface="Hiragino Sans"/>
              </a:rPr>
              <a:t>急いでいる時は
スキップで移動することを
お勧めします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51 / 54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15 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86868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2C4198"/>
                </a:solidFill>
                <a:latin typeface="Hiragino Sans"/>
              </a:rPr>
              <a:t>なぜスキップを推奨するのか ─ 5 つの根拠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82880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74519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DD000"/>
                </a:solidFill>
                <a:latin typeface="Hiragino Sans"/>
              </a:rPr>
              <a:t>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C4198"/>
                </a:solidFill>
                <a:latin typeface="Hiragino Sans"/>
              </a:rPr>
              <a:t>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3291840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231815"/>
                </a:solidFill>
                <a:latin typeface="Hiragino Sans"/>
              </a:rPr>
              <a:t>走るの 90% 以上維持
青空はスキップが速い
4名平均 94.4%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82880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1874519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DD000"/>
                </a:solidFill>
                <a:latin typeface="Hiragino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C4198"/>
                </a:solidFill>
                <a:latin typeface="Hiragino Sans"/>
              </a:rPr>
              <a:t>リズム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3291840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231815"/>
                </a:solidFill>
                <a:latin typeface="Hiragino Sans"/>
              </a:rPr>
              <a:t>ピッチは走るの半分
90-103 BPM
マリーゴールドと同テンポ ♪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120640" y="182880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1874519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DD000"/>
                </a:solidFill>
                <a:latin typeface="Hiragino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C4198"/>
                </a:solidFill>
                <a:latin typeface="Hiragino Sans"/>
              </a:rPr>
              <a:t>対称性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57800" y="3291840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231815"/>
                </a:solidFill>
                <a:latin typeface="Hiragino Sans"/>
              </a:rPr>
              <a:t>4人中3人が左右非対称度
0.0%
左右バランス◎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59" y="182880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452359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59" y="1874519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DD000"/>
                </a:solidFill>
                <a:latin typeface="Hiragino Sans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43799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C4198"/>
                </a:solidFill>
                <a:latin typeface="Hiragino Sans"/>
              </a:rPr>
              <a:t>習得不要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9519" y="3291840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231815"/>
                </a:solidFill>
                <a:latin typeface="Hiragino Sans"/>
              </a:rPr>
              <a:t>CWT 個人差 σ
= 0.08 Hz（最小）
誰でも同じリズム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784080" y="1828800"/>
            <a:ext cx="2194560" cy="4206240"/>
          </a:xfrm>
          <a:prstGeom prst="roundRect">
            <a:avLst/>
          </a:prstGeom>
          <a:solidFill>
            <a:srgbClr val="FFFFFF"/>
          </a:solidFill>
          <a:ln>
            <a:solidFill>
              <a:srgbClr val="2C41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784080" y="1828800"/>
            <a:ext cx="2194560" cy="73152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1874519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3800" b="1">
                <a:solidFill>
                  <a:srgbClr val="FDD000"/>
                </a:solidFill>
                <a:latin typeface="Hiragino Sans"/>
              </a:rPr>
              <a:t>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2743200"/>
            <a:ext cx="2011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2C4198"/>
                </a:solidFill>
                <a:latin typeface="Hiragino Sans"/>
              </a:rPr>
              <a:t>動作の安定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21240" y="3291840"/>
            <a:ext cx="192024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100" b="0">
                <a:solidFill>
                  <a:srgbClr val="231815"/>
                </a:solidFill>
                <a:latin typeface="Hiragino Sans"/>
              </a:rPr>
              <a:t>DTW 波形ばらつき σ
= ±6.4（最小）
4 人とも同じ形をなぞる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093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31815"/>
                </a:solidFill>
                <a:latin typeface="Hiragino Sans"/>
              </a:rPr>
              <a:t>走るのがしんどい・歩くのは遅い、という場面において、スキップは合理的かつ楽しい選択肢である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52 / 54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54335" y="228600"/>
            <a:ext cx="1463040" cy="5029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7200" y="292608"/>
            <a:ext cx="2560320" cy="41148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/>
            <a:r>
              <a:rPr sz="1300" b="1">
                <a:solidFill>
                  <a:srgbClr val="FFFFFF"/>
                </a:solidFill>
                <a:latin typeface="Hiragino Sans"/>
              </a:rP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3385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2C4198"/>
                </a:solidFill>
                <a:latin typeface="Hiragino Sans"/>
              </a:rPr>
              <a:t>参考文献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1371600" cy="73152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11430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[1] Cooley &amp; Tukey (1965). Mathematics of Computation, 19(90), 297–301.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[2] Sakoe &amp; Chiba (1978). IEEE TASSP, 26(1), 43–49.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[3] Mallat (1989). IEEE PAMI, 11(7), 674–693.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4198"/>
                </a:solidFill>
                <a:latin typeface="Hiragino Sans"/>
              </a:rPr>
              <a:t>[分析] </a:t>
            </a:r>
            <a:r>
              <a:rPr sz="1100">
                <a:solidFill>
                  <a:srgbClr val="231815"/>
                </a:solidFill>
                <a:latin typeface="Hiragino Sans"/>
              </a:rPr>
              <a:t>[4] Torrence &amp; Compo (1998). BAMS, 79(1), 61–78.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[5] Cavagna et al. (1977). Am J Physiol, 233(5), R243–R261.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[6] Alexander (1989). Physiol Rev, 69(4), 1199–1227.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[7] Hreljac (1995). J Biomech, 28(6), 669–677.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[8] Minetti (1998). Proc R Soc B, 265(1402), 1227–1235.</a:t>
            </a:r>
          </a:p>
          <a:p>
            <a:pPr>
              <a:spcAft>
                <a:spcPts val="500"/>
              </a:spcAft>
            </a:pPr>
            <a:r>
              <a:rPr sz="1100" b="1">
                <a:solidFill>
                  <a:srgbClr val="2C8C4F"/>
                </a:solidFill>
                <a:latin typeface="Hiragino Sans"/>
              </a:rPr>
              <a:t>[歩行] </a:t>
            </a:r>
            <a:r>
              <a:rPr sz="1100">
                <a:solidFill>
                  <a:srgbClr val="231815"/>
                </a:solidFill>
                <a:latin typeface="Hiragino Sans"/>
              </a:rPr>
              <a:t>[9] Pavei et al. (2015). J Appl Physiol, 119(1), 93–100.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53 / 54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41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FDD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ogakuin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914400"/>
            <a:ext cx="2286000" cy="777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0"/>
            <a:ext cx="114300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Hiragino Sans"/>
              </a:rPr>
              <a:t>ご清聴ありがとうございました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>
                <a:solidFill>
                  <a:srgbClr val="FDD000"/>
                </a:solidFill>
                <a:latin typeface="Hiragino Sans"/>
              </a:rPr>
              <a:t>知能情報科学セミナーⅠ ─ BVH動作解析レポート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937760"/>
            <a:ext cx="114300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Hiragino Sans"/>
              </a:rPr>
              <a:t>情報学部 情報科学科  ─  平松 瑠希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55555"/>
                </a:solidFill>
                <a:latin typeface="Hiragino Sans"/>
              </a:rPr>
              <a:t>知能情報科学セミナーⅠ ── 平松瑠希 ── 工学院大学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20095" y="649224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55555"/>
                </a:solidFill>
                <a:latin typeface="Hiragino Sans"/>
              </a:rPr>
              <a:t>54 / 54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