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1" roundtripDataSignature="AMtx7mjZFbwskgE35+WDTXwxsoYto3jG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2C90CC-EAEA-4381-B040-271D5DA550FC}">
  <a:tblStyle styleId="{A42C90CC-EAEA-4381-B040-271D5DA550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6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5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Relationship Id="rId6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Relationship Id="rId4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53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Relationship Id="rId4" Type="http://schemas.openxmlformats.org/officeDocument/2006/relationships/image" Target="../media/image56.png"/><Relationship Id="rId5" Type="http://schemas.openxmlformats.org/officeDocument/2006/relationships/image" Target="../media/image46.png"/><Relationship Id="rId6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Relationship Id="rId4" Type="http://schemas.openxmlformats.org/officeDocument/2006/relationships/image" Target="../media/image5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png"/><Relationship Id="rId4" Type="http://schemas.openxmlformats.org/officeDocument/2006/relationships/image" Target="../media/image5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640080"/>
            <a:ext cx="32004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8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知能情報科学セミナーⅠ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8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モーションキャプチャによる</a:t>
            </a:r>
            <a:br>
              <a:rPr b="1" i="0" lang="ja-JP" sz="38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-JP" sz="38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歩行・走行・スキップの定量解析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57200" y="4572000"/>
            <a:ext cx="18288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31520" y="470916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── 急いでいる時はスキップで移動することをお勧めします ──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400" u="none" cap="none" strike="noStrike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情報学部 情報科学科 3年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22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平松 瑠希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 / 54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 INTRODUCTION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30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背景・目的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57200" y="182880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500" u="none" cap="none" strike="noStrike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本レポートは、知能情報科学セミナーⅠで学んだ</a:t>
            </a:r>
            <a:endParaRPr b="0" i="0" sz="1500" u="none" cap="none" strike="noStrike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457200" y="2194560"/>
            <a:ext cx="114300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Fast Fourier Transform</a:t>
            </a:r>
            <a:r>
              <a:rPr b="1" i="0" lang="ja-JP" sz="15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に基づく自己相関 (</a:t>
            </a:r>
            <a:r>
              <a:rPr b="0" i="0" lang="ja-JP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Auto-Correlation Function</a:t>
            </a:r>
            <a:r>
              <a:rPr b="1" i="0" lang="ja-JP" sz="15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) ・相互相関 (</a:t>
            </a:r>
            <a:r>
              <a:rPr b="0" i="0" lang="ja-JP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Cross-Correlation Function</a:t>
            </a:r>
            <a:r>
              <a:rPr b="1" i="0" lang="ja-JP" sz="15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br>
              <a:rPr b="1" i="0" lang="ja-JP" sz="15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ja-JP" sz="1500" u="none" cap="none" strike="noStrike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の理論を実データに適用する実践演習</a:t>
            </a:r>
            <a:endParaRPr b="1" sz="15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57200" y="2861566"/>
            <a:ext cx="10972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▼背景と目的</a:t>
            </a:r>
            <a:endParaRPr b="1" sz="20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57200" y="3289775"/>
            <a:ext cx="10972800" cy="301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人間の身体動作には、目に見えない「リズム」が刻まれている。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歩く・走る・スキップ ── どの動作も繰り返しの構造を持つが、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その違いを数値で示せるだろうか？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mocopi の登場で、自分たちの動作を 60Hz で記録できるようになった今、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信号処理の理論を実データに適用して、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● どの動作にどんなリズムがあるか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● 個人差はどこに現れるか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● そして、最も合理的な移動手段は何か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を明らかにすることが本レポートの目的である。</a:t>
            </a:r>
            <a:endParaRPr sz="12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 / 54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305" y="-923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 DATA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計測データ概要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57200" y="1828800"/>
            <a:ext cx="10972800" cy="265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計測機器: mocopi（ソニー製モーションキャプチャ・IMU センサー 6 個）</a:t>
            </a:r>
            <a:b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フォーマット: BVH (BioVision Hierarchy) / 60 Hz サンプリング</a:t>
            </a:r>
            <a:b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被験者: 三橋青空・長岡翔太・平松瑠希・松田宣久 の 4 名</a:t>
            </a:r>
            <a:b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動作: 歩く・走る・スキップ × 4 名 = 計 12 サンプル</a:t>
            </a:r>
            <a:b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5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記録項目: root の絶対位置 + 27 関節の回転角（IMU 実測 6・AI 補完 21）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457200" y="5029200"/>
            <a:ext cx="11277295" cy="128016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主要な解析対象信号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31520" y="55321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主：root の鉛直加速度（歩行リズム検出） / 副：左右足首の Xrotation（背屈・底屈）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 / 54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30632" y="1734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  METHOD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解析手法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57200" y="1920240"/>
            <a:ext cx="36576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40080" y="21031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① ストライド周期 T（ACF）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640080" y="2651760"/>
            <a:ext cx="3291840" cy="2839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ACF(τ) = IFFT(|X(f)|²)</a:t>
            </a: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何をしてる？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信号を τ 秒ズラして自分自身と比べる。ズレても波形が似ていれば ACF は高くなる ─ その τ が「周期」。</a:t>
            </a:r>
            <a:b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なぜこの式？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直接計算（N² 演算）ではなく FFT 経由（</a:t>
            </a: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log N 演算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）で計算 ─ ウィーナー＝ヒンチン定理より「ACF は信号のパワースペクトル（|X(f)|²）を逆 FFT したもの」と等価。</a:t>
            </a: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1000 倍以上高速化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。</a:t>
            </a:r>
            <a:b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最初の有意ピーク（&gt;0.15）= T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最大値はラグ 0（自分自身）。それを飛ばして次のピークを探す。閾値 0.15 でノイズを除去し、</a:t>
            </a: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ストライド周期 T を確定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（瑠希・歩く: T = 0.53 s）。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069847" y="566928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ウィーナー＝ヒンチン定理</a:t>
            </a:r>
            <a:b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最初の有意ピーク（&gt;0.15）を T と推定</a:t>
            </a:r>
            <a:endParaRPr b="0" sz="1100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361688" y="1920240"/>
            <a:ext cx="36576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544568" y="21031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② 歩調・歩数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4544568" y="2593092"/>
            <a:ext cx="329184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cadence = 1 / T  [Hz]</a:t>
            </a: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steps = (duration / T) × 2</a:t>
            </a: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歩調（cadence）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秒間に何回ステップを刻むか。BPM（1 分あたり）に直すには </a:t>
            </a: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×60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。 例：T = 0.53 s → 1.87 Hz = </a:t>
            </a: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112 BPM</a:t>
            </a:r>
            <a:b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歩数（steps）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計測時間 ÷ ストライド周期 = 「フルストライド数」。 ×2 する理由：1 ストライド = 左右で 2 歩進むから（左 1 歩 + 右 1 歩）。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測れること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リズムの速さ（個人差・動作差の比較）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計測時間あたりの総運動量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BPM で音楽テンポと直接比較可能（→ ボーナス章へ）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5431534" y="56235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 秒あたりのステップ数</a:t>
            </a:r>
            <a:b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計測時間内の総歩数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8266175" y="1920240"/>
            <a:ext cx="36576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8449055" y="21031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③ 左右対称性スコア（CCF）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8449055" y="2593092"/>
            <a:ext cx="32918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CCF(τ) = IFFT(X*(f) · Y(f))</a:t>
            </a: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Score = 0.6·RMS比</a:t>
            </a: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+ 0.3·位相差 + 0.1·CCFピーク</a:t>
            </a: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左信号 X と右信号 Y を比べる関数。X を τ 秒ズラすと最もよく重なる位置（理想は τ = -T/2）を探す。X*(f) は複素共役 = 時間反転に相当。</a:t>
            </a:r>
            <a:b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sz="12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9265081" y="5857487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100 点満点の対称性スコア</a:t>
            </a:r>
            <a:endParaRPr b="0" sz="1100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 / 54</a:t>
            </a:r>
            <a:endParaRPr/>
          </a:p>
        </p:txBody>
      </p:sp>
      <p:pic>
        <p:nvPicPr>
          <p:cNvPr descr="テキスト, スコアボード が含まれている画像&#10;&#10;AI 生成コンテンツは誤りを含む可能性があります。" id="153" name="Google Shape;1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2925" y="4149021"/>
            <a:ext cx="23241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 txBox="1"/>
          <p:nvPr/>
        </p:nvSpPr>
        <p:spPr>
          <a:xfrm>
            <a:off x="9410396" y="3837486"/>
            <a:ext cx="232409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スコア 3 要素の意味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8513400" y="4930616"/>
            <a:ext cx="31631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 点以上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◎ 完璧な交互ステップ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80-89 点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○ 良好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70-79 点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△ やや非対称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 点未満</a:t>
            </a:r>
            <a:r>
              <a:rPr lang="ja-JP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⚠️ 要分析（翔太・歩くの 65.8 点はここ）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0" y="1847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READING GUIDE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瑠希・歩くを教材に、グラフの読み方を学ぶ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57200" y="178308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11480" y="2058641"/>
            <a:ext cx="11430000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● 全動作で CV ≤ 0.017 と 4 名中最も規則的 ─ ノイズが少なく構造が見やすい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● 対称性スコア 85.7 点（中程度）─ 「完璧でも完璧でもない」典型的な歩行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● ピーク検出が綺麗に決まる（明瞭な周期性 + 個人差も観察可能）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411480" y="2938314"/>
            <a:ext cx="11430000" cy="3462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6 ステップを 3 つのフェーズで理解する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[ フェーズ① 視覚的に観察する（生波形） ]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  ● STEP 1   腰の上下動を見る ─ 歩行リズムの正体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  ● STEP 2   足首のリズムは腰の「半分」 ─ 2 倍周期の謎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  ● STEP 3   左右の足を重ねる ─ 半周期ずれて動く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[ フェーズ② 数学的に数値化する（周波数領域） ]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  ● STEP 4   ACF でリズムを数値化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  ● STEP 5   CCF で左右対称性を数値化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[ フェーズ③ 個性として解釈する（スコア化） ]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  ● STEP 6   対称性スコアの内訳 ─ 「何が個性か」を読む</a:t>
            </a:r>
            <a:endParaRPr sz="13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 / 54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READING GUIDE  ─  STEP 1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腰の上下動を見る ─ 歩行リズムの正体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_01_root_position.png"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07" y="1554479"/>
            <a:ext cx="983488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457200" y="5577840"/>
            <a:ext cx="11277295" cy="822960"/>
          </a:xfrm>
          <a:prstGeom prst="roundRect">
            <a:avLst>
              <a:gd fmla="val 4000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93297" y="5641846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457200" y="6492239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 b="0" sz="800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6 / 54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1115975" y="5970450"/>
            <a:ext cx="6138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100">
                <a:solidFill>
                  <a:srgbClr val="FFFFFF"/>
                </a:solidFill>
              </a:rPr>
              <a:t>ピーク間隔の平均 ≈ 0.56 s ＝ 半ストライド（T/2）。腰は 1 ストライドの間に 2 回上下する。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28601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READING GUIDE  ─  STEP 2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足首のリズムは腰の「半分」 ─ 2 倍周期の謎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_02_root_vs_foot.png"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0150" y="1600200"/>
            <a:ext cx="8851392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457198" y="5600700"/>
            <a:ext cx="11277295" cy="822960"/>
          </a:xfrm>
          <a:prstGeom prst="roundRect">
            <a:avLst>
              <a:gd fmla="val 4000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03929" y="5709365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0" y="7159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 b="0" sz="800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7 / 54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457200" y="6492239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 b="0" sz="800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115975" y="5970450"/>
            <a:ext cx="740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100">
                <a:solidFill>
                  <a:srgbClr val="FFFFFF"/>
                </a:solidFill>
              </a:rPr>
              <a:t>左足は 1 ストライドに 1 回しか動かないが、腰は 2 回上下する。足首周期 1.05 s ≈ 腰周期 0.53 s × 2。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/>
          <p:nvPr/>
        </p:nvSpPr>
        <p:spPr>
          <a:xfrm>
            <a:off x="0" y="29260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READING GUIDE  ─  STEP 3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左右の足を重ねる ─ 半周期ずれて動く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_03_left_right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07" y="1536192"/>
            <a:ext cx="983488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457199" y="5554980"/>
            <a:ext cx="11277295" cy="822960"/>
          </a:xfrm>
          <a:prstGeom prst="roundRect">
            <a:avLst>
              <a:gd fmla="val 4000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82665" y="5605272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ここがポイント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731518" y="6064812"/>
            <a:ext cx="1072865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左右ピーク間 ≈ 0.58 s ＝ T/2。これが「交互ステップ」の数学的定義。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457199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8 / 54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1115975" y="5970450"/>
            <a:ext cx="6138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100">
                <a:solidFill>
                  <a:srgbClr val="FFFFFF"/>
                </a:solidFill>
              </a:rPr>
              <a:t>左右ピーク間 ≈ 0.58 s ＝ T/2。これが「交互ステップ」の数学的定義。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224" name="Google Shape;2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READING GUIDE  ─  STEP 4</a:t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ACF でリズムを数値化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_04_acf.png" id="228" name="Google Shape;22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07" y="1572768"/>
            <a:ext cx="983488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>
            <a:off x="457200" y="5577840"/>
            <a:ext cx="11277295" cy="822960"/>
          </a:xfrm>
          <a:prstGeom prst="roundRect">
            <a:avLst>
              <a:gd fmla="val 4000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03929" y="5659392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731519" y="6107342"/>
            <a:ext cx="1072865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τ = 0.53 s でピーク → ストライド周期 T。歩調 1.87 Hz ＝ 112 BPM。2 秒以上ピークが残る = 規則的で安定。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 b="0" sz="800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9 / 54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1115975" y="5970450"/>
            <a:ext cx="722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100">
                <a:solidFill>
                  <a:srgbClr val="FFFFFF"/>
                </a:solidFill>
              </a:rPr>
              <a:t>τ = 0.53 s でピーク → ストライド周期 T。歩調 1.87 Hz ＝ 112 BPM。2 秒以上ピークが残る = 規則的で安定。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240" name="Google Shape;2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READING GUIDE  ─  STEP 5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CCF で左右対称性を数値化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_05_ccf.png"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07" y="1581912"/>
            <a:ext cx="983488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>
            <a:off x="465706" y="5596128"/>
            <a:ext cx="11277295" cy="822960"/>
          </a:xfrm>
          <a:prstGeom prst="roundRect">
            <a:avLst>
              <a:gd fmla="val 4000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14562" y="5664708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731519" y="6139239"/>
            <a:ext cx="1072865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ピーク位置 -0.517 s ≈ 理想 -T/2 = -0.533 s。差わずか 0.016 s ─ 完璧な交互ステップ。</a:t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10 / 54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1115975" y="5970450"/>
            <a:ext cx="6138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FFFFFF"/>
                </a:solidFill>
              </a:rPr>
              <a:t>ピーク位置 -0.517 s ≈ 理想 -T/2 = -0.533 s。差わずか 0.016 s ─ 完璧な交互ステップ。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256" name="Google Shape;2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1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READING GUIDE  ─  STEP 6</a:t>
            </a:r>
            <a:endParaRPr/>
          </a:p>
        </p:txBody>
      </p:sp>
      <p:sp>
        <p:nvSpPr>
          <p:cNvPr id="258" name="Google Shape;258;p11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対称性スコアの内訳 ─ 「何が個性か」を読む</a:t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_06_score.png" id="260" name="Google Shape;2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2487" y="1508760"/>
            <a:ext cx="80467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>
            <a:off x="457200" y="5602827"/>
            <a:ext cx="11277295" cy="822960"/>
          </a:xfrm>
          <a:prstGeom prst="roundRect">
            <a:avLst>
              <a:gd fmla="val 4000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78357" y="5669281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762152" y="6139239"/>
            <a:ext cx="1072865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84.3 点。タイミングはほぼ満点、RMS 比 0.81 で 19% の左右振幅差 → これが歩き方の癖。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11 / 54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1115975" y="5970450"/>
            <a:ext cx="6138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FFFFFF"/>
                </a:solidFill>
              </a:rPr>
              <a:t>84.3 点。タイミングはほぼ満点、RMS 比 0.81 で 19% の左右振幅差 → これが歩き方の癖。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272" name="Google Shape;2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 NEW ANALYSIS ①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連続ウェーブレット変換（CWT）─ 時間軸でリズムの揺らぎを追う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57200" y="150876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457200" y="1947672"/>
            <a:ext cx="1143000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ACF は「区間全体の平均的リズム」を 1 つの数値に落とすが、時間内のリズムの揺らぎは見えない。</a:t>
            </a:r>
            <a:endParaRPr b="0" sz="2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CWT は信号を 時間 × 周波数 の 2 次元マップ（ヒートマップ）に展開する。</a:t>
            </a:r>
            <a:b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「いつ・どの周波数が強かったか」が色で可視化される。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457200" y="4114800"/>
            <a:ext cx="11277295" cy="201168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731520" y="42519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本レポートでの設定</a:t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731520" y="4617720"/>
            <a:ext cx="10972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母ウェーブレット: Morlet（時間-周波数バランス◎）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入力信号: 腰（root）の鉛直加速度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解析周波数帯: 0.5 〜 5 Hz（歩く 〜 走るをカバー）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4 人分のパワーを揃え正規化 → 平均 → 共通リズム帯を抽出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12 / 54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/>
          <p:nvPr/>
        </p:nvSpPr>
        <p:spPr>
          <a:xfrm>
            <a:off x="0" y="29260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287" name="Google Shape;2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①  CWT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CWT - 歩く</a:t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3261206" y="1000272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1.90 Hz（114 BPM）、個人差 σ = 0.32 Hz ─ 最も個性が出る</a:t>
            </a:r>
            <a:endParaRPr b="1" sz="14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k_avg.png" id="292" name="Google Shape;292;p13"/>
          <p:cNvPicPr preferRelativeResize="0"/>
          <p:nvPr/>
        </p:nvPicPr>
        <p:blipFill rotWithShape="1">
          <a:blip r:embed="rId4">
            <a:alphaModFix/>
          </a:blip>
          <a:srcRect b="1" l="1" r="1563" t="68076"/>
          <a:stretch/>
        </p:blipFill>
        <p:spPr>
          <a:xfrm>
            <a:off x="1546350" y="4289929"/>
            <a:ext cx="9099299" cy="184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3"/>
          <p:cNvSpPr txBox="1"/>
          <p:nvPr/>
        </p:nvSpPr>
        <p:spPr>
          <a:xfrm>
            <a:off x="457200" y="5861304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1.5〜2.2 Hz の幅で 4 人がばらつく</a:t>
            </a:r>
            <a:endParaRPr sz="11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歩行は日常動作ゆえに個性が許容される</a:t>
            </a:r>
            <a:endParaRPr sz="11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13 / 54</a:t>
            </a:r>
            <a:endParaRPr/>
          </a:p>
        </p:txBody>
      </p:sp>
      <p:pic>
        <p:nvPicPr>
          <p:cNvPr descr="walk_avg.png" id="296" name="Google Shape;296;p13"/>
          <p:cNvPicPr preferRelativeResize="0"/>
          <p:nvPr/>
        </p:nvPicPr>
        <p:blipFill rotWithShape="1">
          <a:blip r:embed="rId4">
            <a:alphaModFix/>
          </a:blip>
          <a:srcRect b="32585" l="0" r="2003" t="490"/>
          <a:stretch/>
        </p:blipFill>
        <p:spPr>
          <a:xfrm>
            <a:off x="2676379" y="1363581"/>
            <a:ext cx="6991642" cy="298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302" name="Google Shape;3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4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①  CWT</a:t>
            </a:r>
            <a:endParaRPr/>
          </a:p>
        </p:txBody>
      </p:sp>
      <p:sp>
        <p:nvSpPr>
          <p:cNvPr id="304" name="Google Shape;304;p1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CWT - 走る</a:t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3154680" y="984739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3.06 Hz（184 BPM）、個人差 σ = 0.11 Hz ─ 5 秒後にロックオン</a:t>
            </a:r>
            <a:endParaRPr b="1" sz="14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un_avg.png" id="307" name="Google Shape;307;p14"/>
          <p:cNvPicPr preferRelativeResize="0"/>
          <p:nvPr/>
        </p:nvPicPr>
        <p:blipFill rotWithShape="1">
          <a:blip r:embed="rId4">
            <a:alphaModFix/>
          </a:blip>
          <a:srcRect b="31730" l="0" r="0" t="0"/>
          <a:stretch/>
        </p:blipFill>
        <p:spPr>
          <a:xfrm>
            <a:off x="3012806" y="1324822"/>
            <a:ext cx="6638563" cy="28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 txBox="1"/>
          <p:nvPr/>
        </p:nvSpPr>
        <p:spPr>
          <a:xfrm>
            <a:off x="411480" y="59436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0〜5 秒は加速期、5 秒以降に 3 Hz の明るい横帯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4 人とも同タイミングで同周波数に収束</a:t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310" name="Google Shape;310;p1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14 / 54</a:t>
            </a:r>
            <a:endParaRPr/>
          </a:p>
        </p:txBody>
      </p:sp>
      <p:pic>
        <p:nvPicPr>
          <p:cNvPr descr="run_avg.png" id="311" name="Google Shape;311;p14"/>
          <p:cNvPicPr preferRelativeResize="0"/>
          <p:nvPr/>
        </p:nvPicPr>
        <p:blipFill rotWithShape="1">
          <a:blip r:embed="rId4">
            <a:alphaModFix/>
          </a:blip>
          <a:srcRect b="0" l="0" r="0" t="67308"/>
          <a:stretch/>
        </p:blipFill>
        <p:spPr>
          <a:xfrm>
            <a:off x="1524954" y="4116898"/>
            <a:ext cx="9108831" cy="1861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/>
          <p:nvPr/>
        </p:nvSpPr>
        <p:spPr>
          <a:xfrm>
            <a:off x="0" y="1406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317" name="Google Shape;3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①  CWT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CWT - スキップ</a:t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3763107" y="8686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2.18 Hz、個人差 σ = 0.08 Hz ─ 全動作中最小</a:t>
            </a:r>
            <a:endParaRPr/>
          </a:p>
        </p:txBody>
      </p:sp>
      <p:pic>
        <p:nvPicPr>
          <p:cNvPr descr="skip_avg.png" id="322" name="Google Shape;322;p15"/>
          <p:cNvPicPr preferRelativeResize="0"/>
          <p:nvPr/>
        </p:nvPicPr>
        <p:blipFill rotWithShape="1">
          <a:blip r:embed="rId4">
            <a:alphaModFix/>
          </a:blip>
          <a:srcRect b="32820" l="0" r="0" t="0"/>
          <a:stretch/>
        </p:blipFill>
        <p:spPr>
          <a:xfrm>
            <a:off x="2983370" y="1384824"/>
            <a:ext cx="6224954" cy="261368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5"/>
          <p:cNvSpPr txBox="1"/>
          <p:nvPr/>
        </p:nvSpPr>
        <p:spPr>
          <a:xfrm>
            <a:off x="457200" y="5892722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複数の周波数帯（基本リズム + 高調波）が共存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「ステップ + ホップ」の複合動作だが優位周波数は最も揃う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325" name="Google Shape;325;p1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15 / 54</a:t>
            </a:r>
            <a:endParaRPr/>
          </a:p>
        </p:txBody>
      </p:sp>
      <p:pic>
        <p:nvPicPr>
          <p:cNvPr descr="skip_avg.png" id="326" name="Google Shape;326;p15"/>
          <p:cNvPicPr preferRelativeResize="0"/>
          <p:nvPr/>
        </p:nvPicPr>
        <p:blipFill rotWithShape="1">
          <a:blip r:embed="rId4">
            <a:alphaModFix/>
          </a:blip>
          <a:srcRect b="0" l="0" r="0" t="67180"/>
          <a:stretch/>
        </p:blipFill>
        <p:spPr>
          <a:xfrm>
            <a:off x="1577567" y="4039069"/>
            <a:ext cx="9036559" cy="1853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332" name="Google Shape;3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①  FINDING</a:t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スキップは「人類共通リズム」 ─ 誰でも自然にできる動き</a:t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6" name="Google Shape;336;p16"/>
          <p:cNvGraphicFramePr/>
          <p:nvPr/>
        </p:nvGraphicFramePr>
        <p:xfrm>
          <a:off x="640080" y="2103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{A42C90CC-EAEA-4381-B040-271D5DA550FC}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動作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4人平均 優位周波数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個人差 σ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解釈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1.90 Hz (114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±0.32 Hz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個人差 大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走る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3.06 Hz (184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±0.11 Hz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秒後にロックオン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スキップ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2.18 Hz (131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±0.08 Hz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個人差 最小 ★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7" name="Google Shape;337;p16"/>
          <p:cNvSpPr/>
          <p:nvPr/>
        </p:nvSpPr>
        <p:spPr>
          <a:xfrm>
            <a:off x="457200" y="4937760"/>
            <a:ext cx="11277295" cy="1463040"/>
          </a:xfrm>
          <a:prstGeom prst="roundRect">
            <a:avLst>
              <a:gd fmla="val 4000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731520" y="51206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スキップ推奨の根拠 ④</a:t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731520" y="5486400"/>
            <a:ext cx="107286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スキップは人類共通リズム ─ 習得不要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640080" y="5897880"/>
            <a:ext cx="1092446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個人差 σ = 0.08 Hz は 3 動作中最小。4 人とも同じリズム帯（約 2.18 Hz）に収束。練習なしで誰でも同じリズムでスキップできる ─ 移動手段としての習得コストがゼロ</a:t>
            </a:r>
            <a:endParaRPr b="0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16 / 54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348" name="Google Shape;3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7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②</a:t>
            </a:r>
            <a:endParaRPr/>
          </a:p>
        </p:txBody>
      </p:sp>
      <p:sp>
        <p:nvSpPr>
          <p:cNvPr id="350" name="Google Shape;350;p17"/>
          <p:cNvSpPr txBox="1"/>
          <p:nvPr/>
        </p:nvSpPr>
        <p:spPr>
          <a:xfrm>
            <a:off x="457200" y="914400"/>
            <a:ext cx="113385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動的時間伸縮（</a:t>
            </a:r>
            <a:r>
              <a:rPr lang="ja-JP" sz="2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Dynamic Time Warping</a:t>
            </a:r>
            <a:r>
              <a:rPr b="1" lang="ja-JP" sz="2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）─ 波形そのものの距離を測る</a:t>
            </a:r>
            <a:endParaRPr b="1" sz="24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457200" y="2199346"/>
            <a:ext cx="1143000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ACF が「自分自身の周期」、CWT が「時間 × 周波数」を見るのに対し、</a:t>
            </a:r>
            <a:b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DTW は「2 つの波形の形そのもの」を比較する。</a:t>
            </a:r>
            <a:b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時間軸を伸び縮みさせて最も似た対応関係を探し、距離をスカラ値で出す。</a:t>
            </a:r>
            <a:b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2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「誰と誰がどれくらい似てるか」を 4×4 マトリクスで一望できる。</a:t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457200" y="4572000"/>
            <a:ext cx="11277295" cy="155448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本レポートでの設定</a:t>
            </a:r>
            <a:endParaRPr/>
          </a:p>
        </p:txBody>
      </p:sp>
      <p:sp>
        <p:nvSpPr>
          <p:cNvPr id="355" name="Google Shape;355;p17"/>
          <p:cNvSpPr txBox="1"/>
          <p:nvPr/>
        </p:nvSpPr>
        <p:spPr>
          <a:xfrm>
            <a:off x="731520" y="521208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各人の左足首 Xrot から 1 ストライド分 → 200 サンプルにリサンプル + 振幅正規化</a:t>
            </a:r>
            <a:endParaRPr sz="11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4 人 × 4 人 = 6 ペアで DTW 距離を計算 → 動作別マトリクス</a:t>
            </a:r>
            <a:endParaRPr sz="11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17 / 54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/>
          <p:nvPr/>
        </p:nvSpPr>
        <p:spPr>
          <a:xfrm>
            <a:off x="0" y="1406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363" name="Google Shape;3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8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②  DTW</a:t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4 人ペアワイズ DTW 距離マトリクス</a:t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stance_matrix.png" id="367" name="Google Shape;3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681" y="1532418"/>
            <a:ext cx="11679038" cy="390826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色が薄い（黄）ほど波形が似ている、濃い（赤）ほど違う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走るの Sora ⇔ Nori だけ 216.3 と異常値 ─ 他は 23〜82</a:t>
            </a:r>
            <a:endParaRPr/>
          </a:p>
        </p:txBody>
      </p:sp>
      <p:sp>
        <p:nvSpPr>
          <p:cNvPr id="369" name="Google Shape;369;p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370" name="Google Shape;370;p1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18 / 54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376" name="Google Shape;3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9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②  DTW</a:t>
            </a:r>
            <a:endParaRPr/>
          </a:p>
        </p:txBody>
      </p:sp>
      <p:sp>
        <p:nvSpPr>
          <p:cNvPr id="378" name="Google Shape;378;p19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動作ごとの平均距離 ─ 「ばらつき」で比較</a:t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stance_summary.png" id="380" name="Google Shape;3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329360"/>
            <a:ext cx="7315200" cy="44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9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歩く 30.5 ± 14.5 / 走る 78.2 ± 65.7 / スキップ 35.3 ± 6.4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標準偏差の小ささ = 4 人がどれだけ揃っているか ─ スキップが最小</a:t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19 / 54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389" name="Google Shape;3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0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②  DTW</a:t>
            </a: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DTW の中身 ─ Ruki ⇔ Nori（歩く）の例</a:t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rping_example.png" id="393" name="Google Shape;3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647" y="1691640"/>
            <a:ext cx="10058400" cy="359228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0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左：2 人の波形と DTW の対応付け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右：累積コスト行列。赤線が最適パス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396" name="Google Shape;396;p2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20 / 54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402" name="Google Shape;4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1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②  FINDING</a:t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スキップは「波形」も人類共通 ─ 動きの形が決まっている</a:t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457200" y="169164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6" name="Google Shape;406;p21"/>
          <p:cNvGraphicFramePr/>
          <p:nvPr/>
        </p:nvGraphicFramePr>
        <p:xfrm>
          <a:off x="640080" y="2103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{A42C90CC-EAEA-4381-B040-271D5DA550FC}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動作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DTW 距離 平均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ばらつき σ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解釈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±14.5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個人差 中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走る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78.2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±65.7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Sora⇔Nori 外れ値あり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スキップ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35.3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±6.4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ばらつき 最小 ★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7" name="Google Shape;407;p21"/>
          <p:cNvSpPr/>
          <p:nvPr/>
        </p:nvSpPr>
        <p:spPr>
          <a:xfrm>
            <a:off x="457200" y="4937760"/>
            <a:ext cx="11277295" cy="1463040"/>
          </a:xfrm>
          <a:prstGeom prst="roundRect">
            <a:avLst>
              <a:gd fmla="val 4000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731520" y="51206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スキップ推奨の根拠 ⑤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731520" y="5486400"/>
            <a:ext cx="1072865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スキップは波形も 4 人で揃う ─ 動作の安定性</a:t>
            </a:r>
            <a:endParaRPr/>
          </a:p>
        </p:txBody>
      </p:sp>
      <p:sp>
        <p:nvSpPr>
          <p:cNvPr id="410" name="Google Shape;410;p21"/>
          <p:cNvSpPr txBox="1"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DTW 距離のばらつき σ = ±6.4 は 3 動作中最小。4 人とも同じ波形をなぞる。CWT（周波数）と DTW（波形）の 2 つの独立した手法が同じ結論。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21 / 54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418" name="Google Shape;4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2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 RESULTS</a:t>
            </a:r>
            <a:endParaRPr/>
          </a:p>
        </p:txBody>
      </p:sp>
      <p:sp>
        <p:nvSpPr>
          <p:cNvPr id="420" name="Google Shape;420;p22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三橋 青空（Sora） の全動作データ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2" name="Google Shape;422;p22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{A42C90CC-EAEA-4381-B040-271D5DA550FC}</a:tableStyleId>
              </a:tblPr>
              <a:tblGrid>
                <a:gridCol w="1405900"/>
                <a:gridCol w="1405900"/>
                <a:gridCol w="1405900"/>
                <a:gridCol w="1405900"/>
                <a:gridCol w="1405900"/>
                <a:gridCol w="1405900"/>
                <a:gridCol w="1405900"/>
                <a:gridCol w="14059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動作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時間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歩調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対称性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速度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CV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13.6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0.467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2.14 Hz (128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88.2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6.43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走る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20.2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0.317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3.16 Hz (190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11.63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スキップ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19.1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0.583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1.71 Hz (103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92.6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11.65 km/h ★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23" name="Google Shape;423;p22"/>
          <p:cNvSpPr/>
          <p:nvPr/>
        </p:nvSpPr>
        <p:spPr>
          <a:xfrm>
            <a:off x="457200" y="3840481"/>
            <a:ext cx="11277295" cy="237744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731520" y="395210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特徴</a:t>
            </a:r>
            <a:endParaRPr b="1" sz="14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731520" y="4321969"/>
            <a:ext cx="1069848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全動作で対称性スコア 88 点以上は 4 名中唯一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走るは 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93.4 点で 4 名中最高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。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歩く・走るとも CV &lt; 0.03 と極めて規則的なリズミカル動作。 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スキップ 11.65 km/h が走る 11.63 km/h を上回る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こと（速度比 100.2%）── 4 名で唯一スキップが移動手段として「走るを超える」例で、本レポートの「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スキップ推奨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」を最も体現する被験者。 走るは 3.16 Hz（190 BPM）で人類共通リズム帯に乗る。</a:t>
            </a:r>
            <a:endParaRPr b="0" sz="10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22 / 54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433" name="Google Shape;4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 RESULTS</a:t>
            </a:r>
            <a:endParaRPr/>
          </a:p>
        </p:txBody>
      </p:sp>
      <p:sp>
        <p:nvSpPr>
          <p:cNvPr id="435" name="Google Shape;435;p23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長岡 翔太（Shota） の全動作データ</a:t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7" name="Google Shape;437;p23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{A42C90CC-EAEA-4381-B040-271D5DA550FC}</a:tableStyleId>
              </a:tblPr>
              <a:tblGrid>
                <a:gridCol w="1405900"/>
                <a:gridCol w="1405900"/>
                <a:gridCol w="1405900"/>
                <a:gridCol w="1405900"/>
                <a:gridCol w="1405900"/>
                <a:gridCol w="1405900"/>
                <a:gridCol w="1405900"/>
                <a:gridCol w="14059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動作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時間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歩調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対称性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速度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CV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53.0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0.517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1.94 Hz (116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1.97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走る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29.3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0.317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3.16 Hz (190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10.37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スキップ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28.8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0.617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1.62 Hz (97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90.0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10.25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1.894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38" name="Google Shape;438;p23"/>
          <p:cNvSpPr/>
          <p:nvPr/>
        </p:nvSpPr>
        <p:spPr>
          <a:xfrm>
            <a:off x="457200" y="3840480"/>
            <a:ext cx="11277295" cy="237744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3"/>
          <p:cNvSpPr txBox="1"/>
          <p:nvPr/>
        </p:nvSpPr>
        <p:spPr>
          <a:xfrm>
            <a:off x="731520" y="3931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特徴</a:t>
            </a:r>
            <a:endParaRPr b="1" sz="14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3"/>
          <p:cNvSpPr txBox="1"/>
          <p:nvPr/>
        </p:nvSpPr>
        <p:spPr>
          <a:xfrm>
            <a:off x="731520" y="4295001"/>
            <a:ext cx="1069848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計測時間は歩く 53 秒 / 走る 29 秒 / スキップ 29 秒で、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歩くだけ突出して長い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（他3人の 2〜3 倍）── 安定性検証のための貴重なロングデータ。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しかしその歩くで対称性スコア 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65.8 点と 4 名中最低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（位相差の倍数誤検出の可能性、要動画照合）。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一方で 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走る・スキップでは 85-90 点に跳ね上がる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── 動作モードを変えると別人のように対称になる興味深い被験者。 走る 190 BPM で青空と完全一致。スキップ CV = 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1.894 は 4 名中最大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で、跳び方の揺らぎが大きい。</a:t>
            </a:r>
            <a:endParaRPr b="0" sz="10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442" name="Google Shape;442;p2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23 / 54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448" name="Google Shape;4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4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 RESULTS</a:t>
            </a:r>
            <a:endParaRPr/>
          </a:p>
        </p:txBody>
      </p:sp>
      <p:sp>
        <p:nvSpPr>
          <p:cNvPr id="450" name="Google Shape;450;p2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平松 瑠希（Ruki） の全動作データ</a:t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2" name="Google Shape;452;p24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{A42C90CC-EAEA-4381-B040-271D5DA550FC}</a:tableStyleId>
              </a:tblPr>
              <a:tblGrid>
                <a:gridCol w="1405900"/>
                <a:gridCol w="1405900"/>
                <a:gridCol w="1405900"/>
                <a:gridCol w="1405900"/>
                <a:gridCol w="1405900"/>
                <a:gridCol w="1405900"/>
                <a:gridCol w="1405900"/>
                <a:gridCol w="14059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動作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時間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歩調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対称性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速度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CV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17.2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0.533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1.87 Hz (112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85.7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7.21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走る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25.3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0.350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2.86 Hz (171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79.7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10.28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スキップ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28.3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0.667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1.50 Hz (90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77.1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9.21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53" name="Google Shape;453;p24"/>
          <p:cNvSpPr/>
          <p:nvPr/>
        </p:nvSpPr>
        <p:spPr>
          <a:xfrm>
            <a:off x="457200" y="3840480"/>
            <a:ext cx="11277295" cy="237744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731520" y="3952101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特徴</a:t>
            </a:r>
            <a:endParaRPr b="1" sz="14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4"/>
          <p:cNvSpPr txBox="1"/>
          <p:nvPr/>
        </p:nvSpPr>
        <p:spPr>
          <a:xfrm>
            <a:off x="701345" y="4315182"/>
            <a:ext cx="1069848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全動作で CV ≤ 0.017 ── 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名中で最も規則的なリズム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を持つ。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拡張解析でも左右非対称度 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全動作 0.0%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という完璧な左右対称性。 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一方で走るは 171 BPM（2.86 Hz）と、</a:t>
            </a:r>
            <a:r>
              <a:rPr b="1"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名中唯一 190 BPM トリオから外れた例外</a:t>
            </a: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。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身体構造や走り方の癖が反映されている可能性。 歩く 7.21 km/h は 4 名中最速 ── 他人の早歩きが平松の通常の歩行速度。</a:t>
            </a: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「日常の歩き」がそもそも速い被験者。 対称性スコアは中程度（77〜86 点）だが、これは振幅差から来るもので位相は完璧。</a:t>
            </a:r>
            <a:endParaRPr b="0" sz="10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457" name="Google Shape;457;p2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24 / 54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463" name="Google Shape;4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5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 RESULTS</a:t>
            </a:r>
            <a:endParaRPr/>
          </a:p>
        </p:txBody>
      </p:sp>
      <p:sp>
        <p:nvSpPr>
          <p:cNvPr id="465" name="Google Shape;465;p25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松田 宣久（Nori） の全動作データ</a:t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7" name="Google Shape;467;p25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{A42C90CC-EAEA-4381-B040-271D5DA550FC}</a:tableStyleId>
              </a:tblPr>
              <a:tblGrid>
                <a:gridCol w="1405900"/>
                <a:gridCol w="1405900"/>
                <a:gridCol w="1405900"/>
                <a:gridCol w="1405900"/>
                <a:gridCol w="1405900"/>
                <a:gridCol w="1405900"/>
                <a:gridCol w="1405900"/>
                <a:gridCol w="14059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動作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時間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歩調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対称性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速度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-JP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CV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C419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歩く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19.0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0.483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2.07 Hz (124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83.4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4.91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0.526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走る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27.4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0.317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3.16 Hz (190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88.7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9.45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1.468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スキップ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30.5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0.633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1.58 Hz (95 BPM)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84.3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8.44 km/h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>
                          <a:solidFill>
                            <a:srgbClr val="23181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0.334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68" name="Google Shape;468;p25"/>
          <p:cNvSpPr/>
          <p:nvPr/>
        </p:nvSpPr>
        <p:spPr>
          <a:xfrm>
            <a:off x="457200" y="3840480"/>
            <a:ext cx="11277295" cy="237744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 txBox="1"/>
          <p:nvPr/>
        </p:nvSpPr>
        <p:spPr>
          <a:xfrm>
            <a:off x="731520" y="3931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特徴</a:t>
            </a:r>
            <a:endParaRPr b="1" sz="14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731520" y="4297680"/>
            <a:ext cx="10698480" cy="1184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走る 3.16 Hz（190 BPM）で青空・翔太と完全一致 ── </a:t>
            </a:r>
            <a:r>
              <a:rPr b="1" lang="ja-JP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「人類は走るとき同じリズムに収束する」仮説の 3 つ目の証拠</a:t>
            </a:r>
            <a:r>
              <a:rPr lang="ja-JP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を提供。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拡張解析で </a:t>
            </a:r>
            <a:r>
              <a:rPr b="1" lang="ja-JP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全動作 左右非対称度 0.00%</a:t>
            </a:r>
            <a:r>
              <a:rPr lang="ja-JP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── 瑠希と並ぶ完璧な対称性。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計測時間合計 76.9 秒（19+27+30）は 4 名中最長。豊富なデータ量で各種解析の信頼性を底上げ。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歩く 4.91 km/h は標準的な日常歩行ペース、走る CV = 1.468 は揺らぎが大きく、CWT で時間軸での周波数変化が観察できる材料。</a:t>
            </a:r>
            <a:endParaRPr b="0" sz="9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472" name="Google Shape;472;p2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25 / 54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478" name="Google Shape;4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6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 RESULTS</a:t>
            </a:r>
            <a:endParaRPr/>
          </a:p>
        </p:txBody>
      </p:sp>
      <p:sp>
        <p:nvSpPr>
          <p:cNvPr id="480" name="Google Shape;480;p26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4 名比較で見える 5 つの特徴</a:t>
            </a:r>
            <a:endParaRPr/>
          </a:p>
        </p:txBody>
      </p:sp>
      <p:sp>
        <p:nvSpPr>
          <p:cNvPr id="481" name="Google Shape;481;p26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 txBox="1"/>
          <p:nvPr/>
        </p:nvSpPr>
        <p:spPr>
          <a:xfrm>
            <a:off x="457200" y="2011680"/>
            <a:ext cx="5574145" cy="3942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走るペースは 4 人中 3 人が完全一致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青空・翔太・宣久が 3.16 Hz (190 BPM)。瑠希のみ 171 BPM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走る T = 0.317 s も 3 人で一致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身体力学的制約の証拠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歩くペースは 14% の個人差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青空 128 / 宣久 124 / 翔太 116 / 瑠希 112 BPM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スキップ BPM は 90-103 の狭い帯に収束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わずか 13 BPM の範囲、走るの約半分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「スキップ ÷ 走る」速度比 平均 94.4%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青空はスキップが走るを超える（100.2%）</a:t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484" name="Google Shape;484;p2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26 / 54</a:t>
            </a:r>
            <a:endParaRPr/>
          </a:p>
        </p:txBody>
      </p:sp>
      <p:sp>
        <p:nvSpPr>
          <p:cNvPr id="485" name="Google Shape;485;p26"/>
          <p:cNvSpPr txBox="1"/>
          <p:nvPr/>
        </p:nvSpPr>
        <p:spPr>
          <a:xfrm>
            <a:off x="6031345" y="2011680"/>
            <a:ext cx="5574145" cy="3942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歩く速度は最大 3.6 倍差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翔太 1.97 ⇔ 瑠希 7.21 km/h ─ 日常動作だから個性が出る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対称性 最高 / 最低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青空・走る 93.4 点 ⇔ 翔太・歩く 65.8 点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左右非対称度 0.0% は瑠希・宣久の 2 名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拡張解析で全動作 完璧な左右対称性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動作の安定性は瑠希が突出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全動作で CV ≤ 0.017、他 3 名と 10〜100 倍差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⭐ 走るは「身体力学」で揃い、スキップは「合理性」で揃う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  ─ 結論「スキップ推奨」への接続点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491" name="Google Shape;4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7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 DISCOVERY</a:t>
            </a:r>
            <a:endParaRPr/>
          </a:p>
        </p:txBody>
      </p:sp>
      <p:sp>
        <p:nvSpPr>
          <p:cNvPr id="493" name="Google Shape;493;p27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発見① ─ 走るリズムは個人差を超えて収束する</a:t>
            </a: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1828800" y="2103120"/>
            <a:ext cx="8503920" cy="3200400"/>
          </a:xfrm>
          <a:prstGeom prst="roundRect">
            <a:avLst>
              <a:gd fmla="val 16667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 txBox="1"/>
          <p:nvPr/>
        </p:nvSpPr>
        <p:spPr>
          <a:xfrm>
            <a:off x="1828800" y="237744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8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4 名のうち 3 名の走る歩調が完全一致</a:t>
            </a:r>
            <a:endParaRPr/>
          </a:p>
        </p:txBody>
      </p:sp>
      <p:sp>
        <p:nvSpPr>
          <p:cNvPr id="497" name="Google Shape;497;p27"/>
          <p:cNvSpPr txBox="1"/>
          <p:nvPr/>
        </p:nvSpPr>
        <p:spPr>
          <a:xfrm>
            <a:off x="1828800" y="3017520"/>
            <a:ext cx="8503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9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190 BPM</a:t>
            </a:r>
            <a:endParaRPr/>
          </a:p>
        </p:txBody>
      </p:sp>
      <p:sp>
        <p:nvSpPr>
          <p:cNvPr id="498" name="Google Shape;498;p27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青空・翔太・宣久 = 3.16 Hz / 瑠希のみ 171 BPM</a:t>
            </a:r>
            <a:endParaRPr/>
          </a:p>
        </p:txBody>
      </p:sp>
      <p:sp>
        <p:nvSpPr>
          <p:cNvPr id="499" name="Google Shape;499;p27"/>
          <p:cNvSpPr txBox="1"/>
          <p:nvPr/>
        </p:nvSpPr>
        <p:spPr>
          <a:xfrm>
            <a:off x="457200" y="566928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3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170-190 BPM はランニング最適ピッチ域（既存研究と整合） ─ 身体能力差を超えた人類共通の最適リズムが観測された</a:t>
            </a:r>
            <a:endParaRPr/>
          </a:p>
        </p:txBody>
      </p:sp>
      <p:sp>
        <p:nvSpPr>
          <p:cNvPr id="500" name="Google Shape;500;p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501" name="Google Shape;501;p2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27 / 54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507" name="Google Shape;5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8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  EXTENDED</a:t>
            </a:r>
            <a:endParaRPr/>
          </a:p>
        </p:txBody>
      </p:sp>
      <p:sp>
        <p:nvSpPr>
          <p:cNvPr id="509" name="Google Shape;509;p28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拡張解析① ─ 左右足首 ACF による左右差の詳細</a:t>
            </a:r>
            <a:endParaRPr/>
          </a:p>
        </p:txBody>
      </p:sp>
      <p:sp>
        <p:nvSpPr>
          <p:cNvPr id="510" name="Google Shape;510;p28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8"/>
          <p:cNvSpPr txBox="1"/>
          <p:nvPr/>
        </p:nvSpPr>
        <p:spPr>
          <a:xfrm>
            <a:off x="457200" y="15544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左右の足首 Xrot 各々の ACF から周期非対称度を算出</a:t>
            </a:r>
            <a:endParaRPr/>
          </a:p>
        </p:txBody>
      </p:sp>
      <p:pic>
        <p:nvPicPr>
          <p:cNvPr descr="ext_lr_foot_acf.png" id="512" name="Google Shape;51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4873" y="2011680"/>
            <a:ext cx="5921949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8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瑠希・宣久は全動作で左右非対称度 0.0%（完璧）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青空の歩くで 66.7%（左右 2 倍関係 ─ 片足/ステップの可能性）</a:t>
            </a:r>
            <a:endParaRPr/>
          </a:p>
        </p:txBody>
      </p:sp>
      <p:sp>
        <p:nvSpPr>
          <p:cNvPr id="514" name="Google Shape;514;p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515" name="Google Shape;515;p2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28 / 54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521" name="Google Shape;5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9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  EXTENDED</a:t>
            </a:r>
            <a:endParaRPr/>
          </a:p>
        </p:txBody>
      </p:sp>
      <p:sp>
        <p:nvSpPr>
          <p:cNvPr id="523" name="Google Shape;523;p29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拡張解析② ─ 腕振りパターン（腕⇔足 相互相関）</a:t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457200" y="15544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腕足周期比から、腕振りが足のリズムと同期しているかを確認</a:t>
            </a:r>
            <a:endParaRPr/>
          </a:p>
        </p:txBody>
      </p:sp>
      <p:pic>
        <p:nvPicPr>
          <p:cNvPr descr="ext_arm_leg_ccf.png" id="526" name="Google Shape;5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3599" y="2011680"/>
            <a:ext cx="5924496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同期型（青空・瑠希・宣久）─ 歩く・走るで腕足が 1:1 同期、スキップで急変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翔太は歩くで腕振り同期突出</a:t>
            </a:r>
            <a:endParaRPr/>
          </a:p>
        </p:txBody>
      </p:sp>
      <p:sp>
        <p:nvSpPr>
          <p:cNvPr id="528" name="Google Shape;528;p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529" name="Google Shape;529;p2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29 / 54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535" name="Google Shape;53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0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  EXTENDED</a:t>
            </a:r>
            <a:endParaRPr/>
          </a:p>
        </p:txBody>
      </p:sp>
      <p:sp>
        <p:nvSpPr>
          <p:cNvPr id="537" name="Google Shape;537;p30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拡張解析③ ─ ACF ピーク減衰率（動作の規則性）</a:t>
            </a:r>
            <a:endParaRPr/>
          </a:p>
        </p:txBody>
      </p:sp>
      <p:sp>
        <p:nvSpPr>
          <p:cNvPr id="538" name="Google Shape;538;p30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0"/>
          <p:cNvSpPr txBox="1"/>
          <p:nvPr/>
        </p:nvSpPr>
        <p:spPr>
          <a:xfrm>
            <a:off x="457200" y="15544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2T/T, 3T/T ピーク比 = どれだけ周期が安定しているか</a:t>
            </a:r>
            <a:endParaRPr/>
          </a:p>
        </p:txBody>
      </p:sp>
      <p:pic>
        <p:nvPicPr>
          <p:cNvPr descr="ext_acf_decay.png" id="540" name="Google Shape;5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2095" y="2011680"/>
            <a:ext cx="8707505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0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スキップは「跳ねる」動作で減衰が大きい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走るは減衰が小さい = 周期が長期的に安定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543" name="Google Shape;543;p3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30 / 54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549" name="Google Shape;5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1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  EXTENDED</a:t>
            </a:r>
            <a:endParaRPr/>
          </a:p>
        </p:txBody>
      </p:sp>
      <p:sp>
        <p:nvSpPr>
          <p:cNvPr id="551" name="Google Shape;551;p31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拡張解析④ ─ 動作プロファイル（6 次元レーダー）</a:t>
            </a:r>
            <a:endParaRPr/>
          </a:p>
        </p:txBody>
      </p:sp>
      <p:sp>
        <p:nvSpPr>
          <p:cNvPr id="552" name="Google Shape;552;p31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1"/>
          <p:cNvSpPr txBox="1"/>
          <p:nvPr/>
        </p:nvSpPr>
        <p:spPr>
          <a:xfrm>
            <a:off x="457200" y="15544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歩調・対称性・左右ACF・腕足周期比・速度・CV を 1 枚に集約</a:t>
            </a:r>
            <a:endParaRPr/>
          </a:p>
        </p:txBody>
      </p:sp>
      <p:pic>
        <p:nvPicPr>
          <p:cNvPr descr="ext_radar.png" id="554" name="Google Shape;5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0185" y="2011680"/>
            <a:ext cx="4811325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1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瑠希・宣久は全動作で左右対称軸が満点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●  青空は走るがバランス取れ、翔太は歩くで腕振り同期突出</a:t>
            </a:r>
            <a:endParaRPr/>
          </a:p>
        </p:txBody>
      </p:sp>
      <p:sp>
        <p:nvSpPr>
          <p:cNvPr id="556" name="Google Shape;556;p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557" name="Google Shape;557;p3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31 / 54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563" name="Google Shape;5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2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  GAIT CHARACTERISTICS</a:t>
            </a:r>
            <a:endParaRPr/>
          </a:p>
        </p:txBody>
      </p:sp>
      <p:sp>
        <p:nvSpPr>
          <p:cNvPr id="565" name="Google Shape;565;p32"/>
          <p:cNvSpPr txBox="1"/>
          <p:nvPr/>
        </p:nvSpPr>
        <p:spPr>
          <a:xfrm>
            <a:off x="457200" y="882630"/>
            <a:ext cx="1133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歩き方の特徴 ─ 4 名の比較プロファイル</a:t>
            </a:r>
            <a:endParaRPr/>
          </a:p>
        </p:txBody>
      </p:sp>
      <p:sp>
        <p:nvSpPr>
          <p:cNvPr id="566" name="Google Shape;566;p32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/>
          <p:nvPr/>
        </p:nvSpPr>
        <p:spPr>
          <a:xfrm>
            <a:off x="457200" y="1828800"/>
            <a:ext cx="274320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2"/>
          <p:cNvSpPr/>
          <p:nvPr/>
        </p:nvSpPr>
        <p:spPr>
          <a:xfrm>
            <a:off x="457200" y="1828800"/>
            <a:ext cx="2743200" cy="6400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2"/>
          <p:cNvSpPr txBox="1"/>
          <p:nvPr/>
        </p:nvSpPr>
        <p:spPr>
          <a:xfrm>
            <a:off x="640080" y="19202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三橋 青空</a:t>
            </a:r>
            <a:endParaRPr/>
          </a:p>
        </p:txBody>
      </p:sp>
      <p:sp>
        <p:nvSpPr>
          <p:cNvPr id="570" name="Google Shape;570;p32"/>
          <p:cNvSpPr txBox="1"/>
          <p:nvPr/>
        </p:nvSpPr>
        <p:spPr>
          <a:xfrm>
            <a:off x="640080" y="2194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0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Sora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457150" y="2468875"/>
            <a:ext cx="2743200" cy="3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【数値】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走る対称性 93.4 点（4 名中最高）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スキップ速度 11.65 km/h</a:t>
            </a:r>
            <a:br>
              <a:rPr lang="ja-JP" sz="1200">
                <a:solidFill>
                  <a:srgbClr val="231815"/>
                </a:solidFill>
              </a:rPr>
            </a:br>
            <a:r>
              <a:rPr lang="ja-JP" sz="1200">
                <a:solidFill>
                  <a:srgbClr val="231815"/>
                </a:solidFill>
              </a:rPr>
              <a:t>                                     （4 名中最高）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全動作 対称性 88+ 点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CV（歩く・走る）&lt; 0.03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ja-JP" sz="1200">
                <a:solidFill>
                  <a:srgbClr val="231815"/>
                </a:solidFill>
              </a:rPr>
            </a:b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【動作の特徴】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規則的で安定したリズミカル動作。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歩く・走るとも CV が極めて低い。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31815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1815"/>
              </a:solidFill>
            </a:endParaRPr>
          </a:p>
        </p:txBody>
      </p:sp>
      <p:sp>
        <p:nvSpPr>
          <p:cNvPr id="572" name="Google Shape;572;p32"/>
          <p:cNvSpPr/>
          <p:nvPr/>
        </p:nvSpPr>
        <p:spPr>
          <a:xfrm>
            <a:off x="3383280" y="1828800"/>
            <a:ext cx="274320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3383280" y="1828800"/>
            <a:ext cx="2743200" cy="6400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 txBox="1"/>
          <p:nvPr/>
        </p:nvSpPr>
        <p:spPr>
          <a:xfrm>
            <a:off x="3566160" y="19202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長岡 翔太</a:t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3566160" y="2194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0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Shota</a:t>
            </a:r>
            <a:endParaRPr/>
          </a:p>
        </p:txBody>
      </p:sp>
      <p:sp>
        <p:nvSpPr>
          <p:cNvPr id="576" name="Google Shape;576;p32"/>
          <p:cNvSpPr txBox="1"/>
          <p:nvPr/>
        </p:nvSpPr>
        <p:spPr>
          <a:xfrm>
            <a:off x="3383250" y="2486675"/>
            <a:ext cx="27432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【数値】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歩く計測時間 53 秒（4 名で最長）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歩く対称性 65.8 点（4 名で最低）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走る・スキップは 85-90 点に回復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スキップ CV 1.894（4 名で最大）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ja-JP" sz="1200">
                <a:solidFill>
                  <a:srgbClr val="231815"/>
                </a:solidFill>
              </a:rPr>
            </a:b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【動作の特徴】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動作によって CV や対称性が大きく変動。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 sz="1200">
                <a:solidFill>
                  <a:srgbClr val="231815"/>
                </a:solidFill>
              </a:rPr>
              <a:t>モードを変えると別人のように対称になる。</a:t>
            </a:r>
            <a:endParaRPr sz="1200">
              <a:solidFill>
                <a:srgbClr val="231815"/>
              </a:solidFill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6309360" y="1828800"/>
            <a:ext cx="274320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/>
          <p:nvPr/>
        </p:nvSpPr>
        <p:spPr>
          <a:xfrm>
            <a:off x="6309360" y="1828800"/>
            <a:ext cx="2743200" cy="6400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2"/>
          <p:cNvSpPr txBox="1"/>
          <p:nvPr/>
        </p:nvSpPr>
        <p:spPr>
          <a:xfrm>
            <a:off x="6492240" y="19202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平松 瑠希</a:t>
            </a:r>
            <a:endParaRPr/>
          </a:p>
        </p:txBody>
      </p:sp>
      <p:sp>
        <p:nvSpPr>
          <p:cNvPr id="580" name="Google Shape;580;p32"/>
          <p:cNvSpPr txBox="1"/>
          <p:nvPr/>
        </p:nvSpPr>
        <p:spPr>
          <a:xfrm>
            <a:off x="6492240" y="2194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0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Ruki</a:t>
            </a:r>
            <a:endParaRPr/>
          </a:p>
        </p:txBody>
      </p:sp>
      <p:sp>
        <p:nvSpPr>
          <p:cNvPr id="581" name="Google Shape;581;p32"/>
          <p:cNvSpPr txBox="1"/>
          <p:nvPr/>
        </p:nvSpPr>
        <p:spPr>
          <a:xfrm>
            <a:off x="6309425" y="2480450"/>
            <a:ext cx="2743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【数値】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全動作 CV ≤ 0.017</a:t>
            </a:r>
            <a:br>
              <a:rPr lang="ja-JP" sz="1200">
                <a:solidFill>
                  <a:srgbClr val="231815"/>
                </a:solidFill>
              </a:rPr>
            </a:br>
            <a:r>
              <a:rPr lang="ja-JP" sz="1200">
                <a:solidFill>
                  <a:srgbClr val="231815"/>
                </a:solidFill>
              </a:rPr>
              <a:t>　　　　　　　　（4 名で最も規則的）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左右非対称度 0.0%（全動作）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歩く速度 7.21 km/h（4 名で最速）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走る 171 BPM（4 名で唯一の例外）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ja-JP" sz="1200">
                <a:solidFill>
                  <a:srgbClr val="231815"/>
                </a:solidFill>
              </a:rPr>
            </a:b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【動作の特徴】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機械並みの規則性。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 sz="1200">
                <a:solidFill>
                  <a:srgbClr val="231815"/>
                </a:solidFill>
              </a:rPr>
              <a:t>歩くが他人の早歩きレベル。</a:t>
            </a:r>
            <a:endParaRPr sz="1200">
              <a:solidFill>
                <a:srgbClr val="231815"/>
              </a:solidFill>
            </a:endParaRPr>
          </a:p>
        </p:txBody>
      </p:sp>
      <p:sp>
        <p:nvSpPr>
          <p:cNvPr id="582" name="Google Shape;582;p32"/>
          <p:cNvSpPr/>
          <p:nvPr/>
        </p:nvSpPr>
        <p:spPr>
          <a:xfrm>
            <a:off x="9235440" y="1828800"/>
            <a:ext cx="274320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2"/>
          <p:cNvSpPr/>
          <p:nvPr/>
        </p:nvSpPr>
        <p:spPr>
          <a:xfrm>
            <a:off x="9235440" y="1828800"/>
            <a:ext cx="2743200" cy="6400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2"/>
          <p:cNvSpPr txBox="1"/>
          <p:nvPr/>
        </p:nvSpPr>
        <p:spPr>
          <a:xfrm>
            <a:off x="9418320" y="19202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松田 宣久</a:t>
            </a:r>
            <a:endParaRPr/>
          </a:p>
        </p:txBody>
      </p:sp>
      <p:sp>
        <p:nvSpPr>
          <p:cNvPr id="585" name="Google Shape;585;p32"/>
          <p:cNvSpPr txBox="1"/>
          <p:nvPr/>
        </p:nvSpPr>
        <p:spPr>
          <a:xfrm>
            <a:off x="9418320" y="2194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0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Nori</a:t>
            </a:r>
            <a:endParaRPr/>
          </a:p>
        </p:txBody>
      </p:sp>
      <p:sp>
        <p:nvSpPr>
          <p:cNvPr id="586" name="Google Shape;586;p32"/>
          <p:cNvSpPr txBox="1"/>
          <p:nvPr/>
        </p:nvSpPr>
        <p:spPr>
          <a:xfrm>
            <a:off x="9235575" y="2486675"/>
            <a:ext cx="27432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【数値】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走る 190 BPM</a:t>
            </a:r>
            <a:br>
              <a:rPr lang="ja-JP" sz="1200">
                <a:solidFill>
                  <a:srgbClr val="231815"/>
                </a:solidFill>
              </a:rPr>
            </a:br>
            <a:r>
              <a:rPr lang="ja-JP" sz="1200">
                <a:solidFill>
                  <a:srgbClr val="231815"/>
                </a:solidFill>
              </a:rPr>
              <a:t>　　　　　　（青空・翔太と完全一致）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左右非対称度 0.0%（全動作）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計測時間合計 76.9 秒（4 名で最長）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● 走る CV 1.468（揺らぎ大）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ja-JP" sz="1200">
                <a:solidFill>
                  <a:srgbClr val="231815"/>
                </a:solidFill>
              </a:rPr>
            </a:b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【動作の特徴】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拡張解析で完璧な左右対称性。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200">
                <a:solidFill>
                  <a:srgbClr val="231815"/>
                </a:solidFill>
              </a:rPr>
              <a:t>走るとき時間軸で揺らぐ傾向。</a:t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31815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31815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1815"/>
              </a:solidFill>
            </a:endParaRPr>
          </a:p>
        </p:txBody>
      </p:sp>
      <p:sp>
        <p:nvSpPr>
          <p:cNvPr id="587" name="Google Shape;587;p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588" name="Google Shape;588;p3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32 / 54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3"/>
          <p:cNvSpPr/>
          <p:nvPr/>
        </p:nvSpPr>
        <p:spPr>
          <a:xfrm>
            <a:off x="0" y="1406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594" name="Google Shape;59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596" name="Google Shape;596;p33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青空・歩く</a:t>
            </a:r>
            <a:endParaRPr/>
          </a:p>
        </p:txBody>
      </p:sp>
      <p:sp>
        <p:nvSpPr>
          <p:cNvPr id="597" name="Google Shape;597;p33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ra_walking_overview.png" id="598" name="Google Shape;59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620" y="1693892"/>
            <a:ext cx="6040676" cy="3883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ra_walking_acf.png" id="599" name="Google Shape;59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7296" y="1693892"/>
            <a:ext cx="5824732" cy="166420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3"/>
          <p:cNvSpPr txBox="1"/>
          <p:nvPr/>
        </p:nvSpPr>
        <p:spPr>
          <a:xfrm>
            <a:off x="7373722" y="3577649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Sora_walking_symmetry.png" id="601" name="Google Shape;60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6947" y="3981062"/>
            <a:ext cx="5565429" cy="1236762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3"/>
          <p:cNvSpPr txBox="1"/>
          <p:nvPr/>
        </p:nvSpPr>
        <p:spPr>
          <a:xfrm>
            <a:off x="7373722" y="576712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603" name="Google Shape;603;p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604" name="Google Shape;604;p3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33 / 54</a:t>
            </a:r>
            <a:endParaRPr/>
          </a:p>
        </p:txBody>
      </p:sp>
      <p:sp>
        <p:nvSpPr>
          <p:cNvPr id="605" name="Google Shape;605;p33"/>
          <p:cNvSpPr txBox="1"/>
          <p:nvPr/>
        </p:nvSpPr>
        <p:spPr>
          <a:xfrm>
            <a:off x="1441018" y="578060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611" name="Google Shape;61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4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613" name="Google Shape;613;p3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青空・走る</a:t>
            </a:r>
            <a:endParaRPr/>
          </a:p>
        </p:txBody>
      </p:sp>
      <p:sp>
        <p:nvSpPr>
          <p:cNvPr id="614" name="Google Shape;614;p34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ra_running_overview.png" id="615" name="Google Shape;61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684606"/>
            <a:ext cx="6465357" cy="41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4"/>
          <p:cNvSpPr txBox="1"/>
          <p:nvPr/>
        </p:nvSpPr>
        <p:spPr>
          <a:xfrm>
            <a:off x="1660730" y="594360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ora_running_acf.png" id="617" name="Google Shape;61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8109" y="1731356"/>
            <a:ext cx="5159266" cy="14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4"/>
          <p:cNvSpPr txBox="1"/>
          <p:nvPr/>
        </p:nvSpPr>
        <p:spPr>
          <a:xfrm>
            <a:off x="7531802" y="3579876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Sora_running_symmetry.png" id="619" name="Google Shape;61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9497" y="4146804"/>
            <a:ext cx="5396490" cy="119922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4"/>
          <p:cNvSpPr txBox="1"/>
          <p:nvPr/>
        </p:nvSpPr>
        <p:spPr>
          <a:xfrm>
            <a:off x="7531802" y="584794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621" name="Google Shape;621;p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622" name="Google Shape;622;p3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34 / 54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628" name="Google Shape;6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5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630" name="Google Shape;630;p35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青空・スキップ</a:t>
            </a:r>
            <a:endParaRPr/>
          </a:p>
        </p:txBody>
      </p:sp>
      <p:sp>
        <p:nvSpPr>
          <p:cNvPr id="631" name="Google Shape;631;p3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ra_skip_overview.png" id="632" name="Google Shape;63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108" y="1600200"/>
            <a:ext cx="6614161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35"/>
          <p:cNvSpPr txBox="1"/>
          <p:nvPr/>
        </p:nvSpPr>
        <p:spPr>
          <a:xfrm>
            <a:off x="1676248" y="598299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ora_skip_acf.png" id="634" name="Google Shape;63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6608" y="1629770"/>
            <a:ext cx="5031813" cy="14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5"/>
          <p:cNvSpPr txBox="1"/>
          <p:nvPr/>
        </p:nvSpPr>
        <p:spPr>
          <a:xfrm>
            <a:off x="7499235" y="3477895"/>
            <a:ext cx="361188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Sora_skip_symmetry.png" id="636" name="Google Shape;63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3159" y="4065086"/>
            <a:ext cx="5468841" cy="1215298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5"/>
          <p:cNvSpPr txBox="1"/>
          <p:nvPr/>
        </p:nvSpPr>
        <p:spPr>
          <a:xfrm>
            <a:off x="7486574" y="6054735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638" name="Google Shape;638;p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639" name="Google Shape;639;p3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35 / 54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645" name="Google Shape;6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6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647" name="Google Shape;647;p36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翔太・歩く</a:t>
            </a:r>
            <a:endParaRPr/>
          </a:p>
        </p:txBody>
      </p:sp>
      <p:sp>
        <p:nvSpPr>
          <p:cNvPr id="648" name="Google Shape;648;p36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a_walking_overview.png" id="649" name="Google Shape;64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5" y="1490472"/>
            <a:ext cx="6784849" cy="4361688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6"/>
          <p:cNvSpPr txBox="1"/>
          <p:nvPr/>
        </p:nvSpPr>
        <p:spPr>
          <a:xfrm>
            <a:off x="1647749" y="585216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ota_walking_acf.png" id="651" name="Google Shape;65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2454" y="1766333"/>
            <a:ext cx="5212081" cy="1489165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6"/>
          <p:cNvSpPr txBox="1"/>
          <p:nvPr/>
        </p:nvSpPr>
        <p:spPr>
          <a:xfrm>
            <a:off x="7665415" y="3631475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Shota_walking_symmetry.png" id="653" name="Google Shape;65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42454" y="4124178"/>
            <a:ext cx="5321106" cy="1182468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6"/>
          <p:cNvSpPr txBox="1"/>
          <p:nvPr/>
        </p:nvSpPr>
        <p:spPr>
          <a:xfrm>
            <a:off x="7697067" y="585216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655" name="Google Shape;655;p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656" name="Google Shape;656;p3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36 / 54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7"/>
          <p:cNvSpPr/>
          <p:nvPr/>
        </p:nvSpPr>
        <p:spPr>
          <a:xfrm>
            <a:off x="0" y="2461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662" name="Google Shape;66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7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664" name="Google Shape;664;p37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翔太・走る</a:t>
            </a:r>
            <a:endParaRPr/>
          </a:p>
        </p:txBody>
      </p:sp>
      <p:sp>
        <p:nvSpPr>
          <p:cNvPr id="665" name="Google Shape;665;p37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_run_overview.png" id="666" name="Google Shape;66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174" y="1645920"/>
            <a:ext cx="6400801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37"/>
          <p:cNvSpPr txBox="1"/>
          <p:nvPr/>
        </p:nvSpPr>
        <p:spPr>
          <a:xfrm>
            <a:off x="1520634" y="581347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o_run_acf.png" id="668" name="Google Shape;66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6974" y="1695492"/>
            <a:ext cx="5377379" cy="1536393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7"/>
          <p:cNvSpPr txBox="1"/>
          <p:nvPr/>
        </p:nvSpPr>
        <p:spPr>
          <a:xfrm>
            <a:off x="7409724" y="3579056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Sho_run_symmetry.png" id="670" name="Google Shape;67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8410" y="4100264"/>
            <a:ext cx="5723285" cy="1271841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7"/>
          <p:cNvSpPr txBox="1"/>
          <p:nvPr/>
        </p:nvSpPr>
        <p:spPr>
          <a:xfrm>
            <a:off x="7409723" y="5787097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672" name="Google Shape;672;p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673" name="Google Shape;673;p3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37 / 54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8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679" name="Google Shape;6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38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681" name="Google Shape;681;p38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翔太・スキップ</a:t>
            </a:r>
            <a:endParaRPr/>
          </a:p>
        </p:txBody>
      </p:sp>
      <p:sp>
        <p:nvSpPr>
          <p:cNvPr id="682" name="Google Shape;682;p38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a_skip_overview.png" id="683" name="Google Shape;68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108" y="1572768"/>
            <a:ext cx="6788962" cy="4364332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8"/>
          <p:cNvSpPr txBox="1"/>
          <p:nvPr/>
        </p:nvSpPr>
        <p:spPr>
          <a:xfrm>
            <a:off x="1763649" y="604207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ota_skip_acf.png" id="685" name="Google Shape;68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95489" y="1649234"/>
            <a:ext cx="5199929" cy="1485693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8"/>
          <p:cNvSpPr txBox="1"/>
          <p:nvPr/>
        </p:nvSpPr>
        <p:spPr>
          <a:xfrm>
            <a:off x="7689513" y="3183961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Shota_skip_symmetry.png" id="687" name="Google Shape;68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4070" y="4230667"/>
            <a:ext cx="5192852" cy="1153967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38"/>
          <p:cNvSpPr txBox="1"/>
          <p:nvPr/>
        </p:nvSpPr>
        <p:spPr>
          <a:xfrm>
            <a:off x="7914483" y="604207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689" name="Google Shape;689;p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690" name="Google Shape;690;p3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38 / 54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9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696" name="Google Shape;69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9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698" name="Google Shape;698;p39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瑠希・歩く</a:t>
            </a:r>
            <a:endParaRPr/>
          </a:p>
        </p:txBody>
      </p:sp>
      <p:sp>
        <p:nvSpPr>
          <p:cNvPr id="699" name="Google Shape;699;p39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uki_walk_overview.png" id="700" name="Google Shape;70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5" y="1541417"/>
            <a:ext cx="6817837" cy="438289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9"/>
          <p:cNvSpPr txBox="1"/>
          <p:nvPr/>
        </p:nvSpPr>
        <p:spPr>
          <a:xfrm>
            <a:off x="1664243" y="5975257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/>
          </a:p>
        </p:txBody>
      </p:sp>
      <p:pic>
        <p:nvPicPr>
          <p:cNvPr descr="Ruki_walk_acf.png" id="702" name="Google Shape;70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97707" y="1718814"/>
            <a:ext cx="5250462" cy="1500131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39"/>
          <p:cNvSpPr txBox="1"/>
          <p:nvPr/>
        </p:nvSpPr>
        <p:spPr>
          <a:xfrm>
            <a:off x="7716998" y="3603993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Ruki_walk_symmetry.png" id="704" name="Google Shape;70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45051" y="4278409"/>
            <a:ext cx="5355774" cy="1190172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9"/>
          <p:cNvSpPr txBox="1"/>
          <p:nvPr/>
        </p:nvSpPr>
        <p:spPr>
          <a:xfrm>
            <a:off x="7716998" y="5973821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706" name="Google Shape;706;p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707" name="Google Shape;707;p3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39 / 54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0"/>
          <p:cNvSpPr/>
          <p:nvPr/>
        </p:nvSpPr>
        <p:spPr>
          <a:xfrm>
            <a:off x="0" y="1406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713" name="Google Shape;71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0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715" name="Google Shape;715;p40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瑠希・走る</a:t>
            </a:r>
            <a:endParaRPr/>
          </a:p>
        </p:txBody>
      </p:sp>
      <p:sp>
        <p:nvSpPr>
          <p:cNvPr id="716" name="Google Shape;716;p40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uki_run_overview.png" id="717" name="Google Shape;71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5" y="1572768"/>
            <a:ext cx="6514593" cy="4187952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0"/>
          <p:cNvSpPr txBox="1"/>
          <p:nvPr/>
        </p:nvSpPr>
        <p:spPr>
          <a:xfrm>
            <a:off x="1512621" y="5843016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uki_run_acf.png" id="719" name="Google Shape;71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349" y="1764792"/>
            <a:ext cx="5222921" cy="1492262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40"/>
          <p:cNvSpPr txBox="1"/>
          <p:nvPr/>
        </p:nvSpPr>
        <p:spPr>
          <a:xfrm>
            <a:off x="7442642" y="3427296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Ruki_run_symmetry.png" id="721" name="Google Shape;721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8358" y="4299384"/>
            <a:ext cx="5613642" cy="1247476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0"/>
          <p:cNvSpPr txBox="1"/>
          <p:nvPr/>
        </p:nvSpPr>
        <p:spPr>
          <a:xfrm>
            <a:off x="7402479" y="5843016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723" name="Google Shape;723;p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724" name="Google Shape;724;p4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40 / 54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730" name="Google Shape;73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41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732" name="Google Shape;732;p41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瑠希・スキップ</a:t>
            </a:r>
            <a:endParaRPr/>
          </a:p>
        </p:txBody>
      </p:sp>
      <p:sp>
        <p:nvSpPr>
          <p:cNvPr id="733" name="Google Shape;733;p41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uki_skip_overview.png" id="734" name="Google Shape;73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108" y="1629592"/>
            <a:ext cx="6568440" cy="4222568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1"/>
          <p:cNvSpPr txBox="1"/>
          <p:nvPr/>
        </p:nvSpPr>
        <p:spPr>
          <a:xfrm>
            <a:off x="1653388" y="590265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uki_skip_acf.png" id="736" name="Google Shape;73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3547" y="1731782"/>
            <a:ext cx="5448147" cy="1556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1"/>
          <p:cNvSpPr txBox="1"/>
          <p:nvPr/>
        </p:nvSpPr>
        <p:spPr>
          <a:xfrm>
            <a:off x="7772400" y="3558265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Ruki_skip_symmetry.png" id="738" name="Google Shape;738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9987" y="4298764"/>
            <a:ext cx="5315265" cy="118117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1"/>
          <p:cNvSpPr txBox="1"/>
          <p:nvPr/>
        </p:nvSpPr>
        <p:spPr>
          <a:xfrm>
            <a:off x="7830710" y="585467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740" name="Google Shape;740;p4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741" name="Google Shape;741;p4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41 / 54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747" name="Google Shape;74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2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749" name="Google Shape;749;p42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宣久・歩く</a:t>
            </a:r>
            <a:endParaRPr/>
          </a:p>
        </p:txBody>
      </p:sp>
      <p:sp>
        <p:nvSpPr>
          <p:cNvPr id="750" name="Google Shape;750;p42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ri_walk_overview.png" id="751" name="Google Shape;75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5" y="1572768"/>
            <a:ext cx="6656833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42"/>
          <p:cNvSpPr txBox="1"/>
          <p:nvPr/>
        </p:nvSpPr>
        <p:spPr>
          <a:xfrm>
            <a:off x="1583741" y="585919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/>
          </a:p>
        </p:txBody>
      </p:sp>
      <p:pic>
        <p:nvPicPr>
          <p:cNvPr descr="Nori_walk_acf.png" id="753" name="Google Shape;75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1503" y="1600200"/>
            <a:ext cx="5046786" cy="1441938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2"/>
          <p:cNvSpPr txBox="1"/>
          <p:nvPr/>
        </p:nvSpPr>
        <p:spPr>
          <a:xfrm>
            <a:off x="7643328" y="3450102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Nori_walk_symmetry.png" id="755" name="Google Shape;75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8098" y="4178104"/>
            <a:ext cx="5301765" cy="117817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2"/>
          <p:cNvSpPr txBox="1"/>
          <p:nvPr/>
        </p:nvSpPr>
        <p:spPr>
          <a:xfrm>
            <a:off x="7573975" y="5819629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757" name="Google Shape;757;p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758" name="Google Shape;758;p4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42 / 54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764" name="Google Shape;76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766" name="Google Shape;766;p43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宣久・走る</a:t>
            </a:r>
            <a:endParaRPr/>
          </a:p>
        </p:txBody>
      </p:sp>
      <p:sp>
        <p:nvSpPr>
          <p:cNvPr id="767" name="Google Shape;767;p43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ri_run_overview.png" id="768" name="Google Shape;76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5" y="1541418"/>
            <a:ext cx="6563359" cy="4219302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3"/>
          <p:cNvSpPr txBox="1"/>
          <p:nvPr/>
        </p:nvSpPr>
        <p:spPr>
          <a:xfrm>
            <a:off x="1537004" y="5832768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/>
          </a:p>
        </p:txBody>
      </p:sp>
      <p:pic>
        <p:nvPicPr>
          <p:cNvPr descr="Nori_run_acf.png" id="770" name="Google Shape;77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4623" y="1651146"/>
            <a:ext cx="5434531" cy="1552722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43"/>
          <p:cNvSpPr txBox="1"/>
          <p:nvPr/>
        </p:nvSpPr>
        <p:spPr>
          <a:xfrm>
            <a:off x="7550454" y="3409657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Nori_run_symmetry.png" id="772" name="Google Shape;77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4624" y="4196444"/>
            <a:ext cx="5463540" cy="121412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3"/>
          <p:cNvSpPr txBox="1"/>
          <p:nvPr/>
        </p:nvSpPr>
        <p:spPr>
          <a:xfrm>
            <a:off x="7550454" y="5832768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774" name="Google Shape;774;p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775" name="Google Shape;775;p4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43 / 54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781" name="Google Shape;78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44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  INDIVIDUAL</a:t>
            </a:r>
            <a:endParaRPr/>
          </a:p>
        </p:txBody>
      </p:sp>
      <p:sp>
        <p:nvSpPr>
          <p:cNvPr id="783" name="Google Shape;783;p4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個別解析: 宣久・スキップ</a:t>
            </a:r>
            <a:endParaRPr/>
          </a:p>
        </p:txBody>
      </p:sp>
      <p:sp>
        <p:nvSpPr>
          <p:cNvPr id="784" name="Google Shape;784;p44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ri_skip_overview.png" id="785" name="Google Shape;78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5" y="1513682"/>
            <a:ext cx="6748743" cy="4338477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44"/>
          <p:cNvSpPr txBox="1"/>
          <p:nvPr/>
        </p:nvSpPr>
        <p:spPr>
          <a:xfrm>
            <a:off x="1629696" y="594360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Root 位置・加速度・足首回転角</a:t>
            </a:r>
            <a:endParaRPr b="1" sz="1100">
              <a:solidFill>
                <a:srgbClr val="2C41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ori_skip_acf.png" id="787" name="Google Shape;787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1869" y="1629592"/>
            <a:ext cx="5253437" cy="1500981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44"/>
          <p:cNvSpPr txBox="1"/>
          <p:nvPr/>
        </p:nvSpPr>
        <p:spPr>
          <a:xfrm>
            <a:off x="7772400" y="3361668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自己相関 ACF</a:t>
            </a:r>
            <a:endParaRPr/>
          </a:p>
        </p:txBody>
      </p:sp>
      <p:pic>
        <p:nvPicPr>
          <p:cNvPr descr="Nori_skip_symmetry.png" id="789" name="Google Shape;789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85893" y="3978207"/>
            <a:ext cx="5029916" cy="1117759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4"/>
          <p:cNvSpPr txBox="1"/>
          <p:nvPr/>
        </p:nvSpPr>
        <p:spPr>
          <a:xfrm>
            <a:off x="7772400" y="594360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1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 CCF</a:t>
            </a:r>
            <a:endParaRPr/>
          </a:p>
        </p:txBody>
      </p:sp>
      <p:sp>
        <p:nvSpPr>
          <p:cNvPr id="791" name="Google Shape;791;p4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792" name="Google Shape;792;p4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44 / 54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5"/>
          <p:cNvSpPr/>
          <p:nvPr/>
        </p:nvSpPr>
        <p:spPr>
          <a:xfrm>
            <a:off x="0" y="-923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798" name="Google Shape;79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45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  SYMMETRY</a:t>
            </a:r>
            <a:endParaRPr/>
          </a:p>
        </p:txBody>
      </p:sp>
      <p:sp>
        <p:nvSpPr>
          <p:cNvPr id="800" name="Google Shape;800;p45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左右対称性スコア一覧</a:t>
            </a:r>
            <a:endParaRPr/>
          </a:p>
        </p:txBody>
      </p:sp>
      <p:sp>
        <p:nvSpPr>
          <p:cNvPr id="801" name="Google Shape;801;p4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ymmetry.png" id="802" name="Google Shape;80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6699" y="1490472"/>
            <a:ext cx="8099561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45"/>
          <p:cNvSpPr txBox="1"/>
          <p:nvPr/>
        </p:nvSpPr>
        <p:spPr>
          <a:xfrm>
            <a:off x="457200" y="6108192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2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瑠希・宣久は全動作で完璧対称（0.0%）、翔太は走る・スキップで完璧、青空は走る・スキップで対称・歩くで 2 倍関係を検出</a:t>
            </a:r>
            <a:endParaRPr b="0" sz="12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805" name="Google Shape;805;p4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45 / 54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811" name="Google Shape;81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6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  SPEED ANALYSIS</a:t>
            </a:r>
            <a:endParaRPr/>
          </a:p>
        </p:txBody>
      </p:sp>
      <p:sp>
        <p:nvSpPr>
          <p:cNvPr id="813" name="Google Shape;813;p46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移動速度の詳細データ ─ 12 サンプル</a:t>
            </a:r>
            <a:endParaRPr/>
          </a:p>
        </p:txBody>
      </p:sp>
      <p:sp>
        <p:nvSpPr>
          <p:cNvPr id="814" name="Google Shape;814;p46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peed.png" id="815" name="Google Shape;81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899" y="1572768"/>
            <a:ext cx="9219895" cy="499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817" name="Google Shape;817;p4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46 / 54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823" name="Google Shape;82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47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  KEY FINDING</a:t>
            </a:r>
            <a:endParaRPr/>
          </a:p>
        </p:txBody>
      </p:sp>
      <p:sp>
        <p:nvSpPr>
          <p:cNvPr id="825" name="Google Shape;825;p47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発見② ─ スキップは走るの 90% 以上の速度</a:t>
            </a:r>
            <a:endParaRPr/>
          </a:p>
        </p:txBody>
      </p:sp>
      <p:sp>
        <p:nvSpPr>
          <p:cNvPr id="826" name="Google Shape;826;p47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7"/>
          <p:cNvSpPr/>
          <p:nvPr/>
        </p:nvSpPr>
        <p:spPr>
          <a:xfrm>
            <a:off x="1828800" y="2103120"/>
            <a:ext cx="8503920" cy="3200400"/>
          </a:xfrm>
          <a:prstGeom prst="roundRect">
            <a:avLst>
              <a:gd fmla="val 16667" name="adj"/>
            </a:avLst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7"/>
          <p:cNvSpPr txBox="1"/>
          <p:nvPr/>
        </p:nvSpPr>
        <p:spPr>
          <a:xfrm>
            <a:off x="1828800" y="237744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8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4 名の「スキップ ÷ 走る」速度比 平均</a:t>
            </a:r>
            <a:endParaRPr/>
          </a:p>
        </p:txBody>
      </p:sp>
      <p:sp>
        <p:nvSpPr>
          <p:cNvPr id="829" name="Google Shape;829;p47"/>
          <p:cNvSpPr txBox="1"/>
          <p:nvPr/>
        </p:nvSpPr>
        <p:spPr>
          <a:xfrm>
            <a:off x="1828800" y="3017520"/>
            <a:ext cx="8503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9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94.4%</a:t>
            </a:r>
            <a:endParaRPr/>
          </a:p>
        </p:txBody>
      </p:sp>
      <p:sp>
        <p:nvSpPr>
          <p:cNvPr id="830" name="Google Shape;830;p47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青空 100.2% / 翔太 98.8% / 瑠希 89.6% / 宣久 89.3%</a:t>
            </a:r>
            <a:endParaRPr/>
          </a:p>
        </p:txBody>
      </p:sp>
      <p:sp>
        <p:nvSpPr>
          <p:cNvPr id="831" name="Google Shape;831;p47"/>
          <p:cNvSpPr txBox="1"/>
          <p:nvPr/>
        </p:nvSpPr>
        <p:spPr>
          <a:xfrm>
            <a:off x="457200" y="566928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全員でスキップは走るの約 90% 以上の速度。青空に至っては走るを超える</a:t>
            </a:r>
            <a:endParaRPr/>
          </a:p>
        </p:txBody>
      </p:sp>
      <p:sp>
        <p:nvSpPr>
          <p:cNvPr id="832" name="Google Shape;832;p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833" name="Google Shape;833;p4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47 / 54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839" name="Google Shape;83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48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  EFFICIENCY</a:t>
            </a:r>
            <a:endParaRPr/>
          </a:p>
        </p:txBody>
      </p:sp>
      <p:sp>
        <p:nvSpPr>
          <p:cNvPr id="841" name="Google Shape;841;p48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リズム vs 速度の関係 ─ 4 名比較</a:t>
            </a:r>
            <a:endParaRPr/>
          </a:p>
        </p:txBody>
      </p:sp>
      <p:sp>
        <p:nvSpPr>
          <p:cNvPr id="842" name="Google Shape;842;p48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efficiency.png" id="843" name="Google Shape;84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317" y="1691640"/>
            <a:ext cx="8115061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4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845" name="Google Shape;845;p4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48 / 54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851" name="Google Shape;85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49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  DISCUSSION</a:t>
            </a:r>
            <a:endParaRPr/>
          </a:p>
        </p:txBody>
      </p:sp>
      <p:sp>
        <p:nvSpPr>
          <p:cNvPr id="853" name="Google Shape;853;p49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4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考察</a:t>
            </a:r>
            <a:endParaRPr/>
          </a:p>
        </p:txBody>
      </p:sp>
      <p:sp>
        <p:nvSpPr>
          <p:cNvPr id="854" name="Google Shape;854;p49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9"/>
          <p:cNvSpPr txBox="1"/>
          <p:nvPr/>
        </p:nvSpPr>
        <p:spPr>
          <a:xfrm>
            <a:off x="457200" y="16459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① 走るリズムの普遍性</a:t>
            </a:r>
            <a:endParaRPr/>
          </a:p>
        </p:txBody>
      </p:sp>
      <p:sp>
        <p:nvSpPr>
          <p:cNvPr id="856" name="Google Shape;856;p49"/>
          <p:cNvSpPr txBox="1"/>
          <p:nvPr/>
        </p:nvSpPr>
        <p:spPr>
          <a:xfrm>
            <a:off x="457200" y="196596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4 人中 3 人が走る 3.16 Hz (190 BPM) 一致。瑠希のみ 171 BPM。身体能力差を超えた人間共通の最適ピッチを示唆</a:t>
            </a:r>
            <a:endParaRPr/>
          </a:p>
        </p:txBody>
      </p:sp>
      <p:sp>
        <p:nvSpPr>
          <p:cNvPr id="857" name="Google Shape;857;p49"/>
          <p:cNvSpPr txBox="1"/>
          <p:nvPr/>
        </p:nvSpPr>
        <p:spPr>
          <a:xfrm>
            <a:off x="457200" y="260604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② 歩き方の個人差</a:t>
            </a:r>
            <a:endParaRPr/>
          </a:p>
        </p:txBody>
      </p:sp>
      <p:sp>
        <p:nvSpPr>
          <p:cNvPr id="858" name="Google Shape;858;p49"/>
          <p:cNvSpPr txBox="1"/>
          <p:nvPr/>
        </p:nvSpPr>
        <p:spPr>
          <a:xfrm>
            <a:off x="457200" y="292608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左右 ACF・腕足周期比で歩く・スキップに個人差が出る。走るは身体力学的制約が強く 4 名で似通る</a:t>
            </a:r>
            <a:endParaRPr/>
          </a:p>
        </p:txBody>
      </p:sp>
      <p:sp>
        <p:nvSpPr>
          <p:cNvPr id="859" name="Google Shape;859;p49"/>
          <p:cNvSpPr txBox="1"/>
          <p:nvPr/>
        </p:nvSpPr>
        <p:spPr>
          <a:xfrm>
            <a:off x="457200" y="35661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③ 4 人それぞれの動作スタイル</a:t>
            </a:r>
            <a:endParaRPr/>
          </a:p>
        </p:txBody>
      </p:sp>
      <p:sp>
        <p:nvSpPr>
          <p:cNvPr id="860" name="Google Shape;860;p49"/>
          <p:cNvSpPr txBox="1"/>
          <p:nvPr/>
        </p:nvSpPr>
        <p:spPr>
          <a:xfrm>
            <a:off x="457200" y="388620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青空: 規則的・安定 / 翔太: モード切替 / 瑠希: 左右対称 0%・CV 最小 / 宣久: 機械的対称性</a:t>
            </a:r>
            <a:endParaRPr/>
          </a:p>
        </p:txBody>
      </p:sp>
      <p:sp>
        <p:nvSpPr>
          <p:cNvPr id="861" name="Google Shape;861;p49"/>
          <p:cNvSpPr txBox="1"/>
          <p:nvPr/>
        </p:nvSpPr>
        <p:spPr>
          <a:xfrm>
            <a:off x="457200" y="452628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④ スキップの優位性</a:t>
            </a:r>
            <a:endParaRPr/>
          </a:p>
        </p:txBody>
      </p:sp>
      <p:sp>
        <p:nvSpPr>
          <p:cNvPr id="862" name="Google Shape;862;p49"/>
          <p:cNvSpPr txBox="1"/>
          <p:nvPr/>
        </p:nvSpPr>
        <p:spPr>
          <a:xfrm>
            <a:off x="457200" y="484632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経路速度 走るの 90% 以上 / ピッチは走るの約半分 / 対称性スコア 77-93 点 / 左右非対称度 4 人中 3 人で 0.0%</a:t>
            </a:r>
            <a:endParaRPr/>
          </a:p>
        </p:txBody>
      </p:sp>
      <p:sp>
        <p:nvSpPr>
          <p:cNvPr id="863" name="Google Shape;863;p49"/>
          <p:cNvSpPr txBox="1"/>
          <p:nvPr/>
        </p:nvSpPr>
        <p:spPr>
          <a:xfrm>
            <a:off x="457200" y="548640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⑤ 今後の課題</a:t>
            </a:r>
            <a:endParaRPr/>
          </a:p>
        </p:txBody>
      </p:sp>
      <p:sp>
        <p:nvSpPr>
          <p:cNvPr id="864" name="Google Shape;864;p49"/>
          <p:cNvSpPr txBox="1"/>
          <p:nvPr/>
        </p:nvSpPr>
        <p:spPr>
          <a:xfrm>
            <a:off x="457200" y="580644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翔太の歩く対称性低下の原因 / サンプル数増加 / エネルギー消費との対応</a:t>
            </a:r>
            <a:endParaRPr/>
          </a:p>
        </p:txBody>
      </p:sp>
      <p:sp>
        <p:nvSpPr>
          <p:cNvPr id="865" name="Google Shape;865;p4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866" name="Google Shape;866;p4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49 / 54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872" name="Google Shape;8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50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  BONUS  ─  TEMPO</a:t>
            </a:r>
            <a:endParaRPr/>
          </a:p>
        </p:txBody>
      </p:sp>
      <p:sp>
        <p:nvSpPr>
          <p:cNvPr id="874" name="Google Shape;874;p50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0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スキップのBPMは、心地よいポップスのテンポと一致する</a:t>
            </a:r>
            <a:endParaRPr/>
          </a:p>
        </p:txBody>
      </p:sp>
      <p:sp>
        <p:nvSpPr>
          <p:cNvPr id="875" name="Google Shape;875;p50"/>
          <p:cNvSpPr/>
          <p:nvPr/>
        </p:nvSpPr>
        <p:spPr>
          <a:xfrm>
            <a:off x="457200" y="150876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50"/>
          <p:cNvSpPr txBox="1"/>
          <p:nvPr/>
        </p:nvSpPr>
        <p:spPr>
          <a:xfrm>
            <a:off x="457200" y="17830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4 名のスキップ BPM 範囲: 90 - 103</a:t>
            </a:r>
            <a:endParaRPr/>
          </a:p>
        </p:txBody>
      </p:sp>
      <p:sp>
        <p:nvSpPr>
          <p:cNvPr id="877" name="Google Shape;877;p50"/>
          <p:cNvSpPr/>
          <p:nvPr/>
        </p:nvSpPr>
        <p:spPr>
          <a:xfrm>
            <a:off x="457200" y="2468880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0"/>
          <p:cNvSpPr txBox="1"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aimyon</a:t>
            </a:r>
            <a:endParaRPr/>
          </a:p>
        </p:txBody>
      </p:sp>
      <p:sp>
        <p:nvSpPr>
          <p:cNvPr id="879" name="Google Shape;879;p50"/>
          <p:cNvSpPr txBox="1"/>
          <p:nvPr/>
        </p:nvSpPr>
        <p:spPr>
          <a:xfrm>
            <a:off x="640080" y="28803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マリーゴールド</a:t>
            </a:r>
            <a:endParaRPr/>
          </a:p>
        </p:txBody>
      </p:sp>
      <p:sp>
        <p:nvSpPr>
          <p:cNvPr id="880" name="Google Shape;880;p50"/>
          <p:cNvSpPr txBox="1"/>
          <p:nvPr/>
        </p:nvSpPr>
        <p:spPr>
          <a:xfrm>
            <a:off x="640080" y="33375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104 BPM</a:t>
            </a:r>
            <a:endParaRPr/>
          </a:p>
        </p:txBody>
      </p:sp>
      <p:sp>
        <p:nvSpPr>
          <p:cNvPr id="881" name="Google Shape;881;p50"/>
          <p:cNvSpPr/>
          <p:nvPr/>
        </p:nvSpPr>
        <p:spPr>
          <a:xfrm>
            <a:off x="4361688" y="2468880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50"/>
          <p:cNvSpPr txBox="1"/>
          <p:nvPr/>
        </p:nvSpPr>
        <p:spPr>
          <a:xfrm>
            <a:off x="4544568" y="2560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YOASOBI</a:t>
            </a:r>
            <a:endParaRPr/>
          </a:p>
        </p:txBody>
      </p:sp>
      <p:sp>
        <p:nvSpPr>
          <p:cNvPr id="883" name="Google Shape;883;p50"/>
          <p:cNvSpPr txBox="1"/>
          <p:nvPr/>
        </p:nvSpPr>
        <p:spPr>
          <a:xfrm>
            <a:off x="4544568" y="28803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夜に駆ける</a:t>
            </a:r>
            <a:endParaRPr/>
          </a:p>
        </p:txBody>
      </p:sp>
      <p:sp>
        <p:nvSpPr>
          <p:cNvPr id="884" name="Google Shape;884;p50"/>
          <p:cNvSpPr txBox="1"/>
          <p:nvPr/>
        </p:nvSpPr>
        <p:spPr>
          <a:xfrm>
            <a:off x="4544568" y="33375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130 BPM（疾走）</a:t>
            </a:r>
            <a:endParaRPr/>
          </a:p>
        </p:txBody>
      </p:sp>
      <p:sp>
        <p:nvSpPr>
          <p:cNvPr id="885" name="Google Shape;885;p50"/>
          <p:cNvSpPr/>
          <p:nvPr/>
        </p:nvSpPr>
        <p:spPr>
          <a:xfrm>
            <a:off x="8266175" y="2468880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0"/>
          <p:cNvSpPr txBox="1"/>
          <p:nvPr/>
        </p:nvSpPr>
        <p:spPr>
          <a:xfrm>
            <a:off x="8449055" y="2560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Mr.Children</a:t>
            </a:r>
            <a:endParaRPr/>
          </a:p>
        </p:txBody>
      </p:sp>
      <p:sp>
        <p:nvSpPr>
          <p:cNvPr id="887" name="Google Shape;887;p50"/>
          <p:cNvSpPr txBox="1"/>
          <p:nvPr/>
        </p:nvSpPr>
        <p:spPr>
          <a:xfrm>
            <a:off x="8449055" y="28803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innocent world</a:t>
            </a:r>
            <a:endParaRPr/>
          </a:p>
        </p:txBody>
      </p:sp>
      <p:sp>
        <p:nvSpPr>
          <p:cNvPr id="888" name="Google Shape;888;p50"/>
          <p:cNvSpPr txBox="1"/>
          <p:nvPr/>
        </p:nvSpPr>
        <p:spPr>
          <a:xfrm>
            <a:off x="8449055" y="33375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108 BPM</a:t>
            </a:r>
            <a:endParaRPr/>
          </a:p>
        </p:txBody>
      </p:sp>
      <p:sp>
        <p:nvSpPr>
          <p:cNvPr id="889" name="Google Shape;889;p50"/>
          <p:cNvSpPr/>
          <p:nvPr/>
        </p:nvSpPr>
        <p:spPr>
          <a:xfrm>
            <a:off x="457200" y="4023360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0"/>
          <p:cNvSpPr txBox="1"/>
          <p:nvPr/>
        </p:nvSpPr>
        <p:spPr>
          <a:xfrm>
            <a:off x="640080" y="41148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Official髭男dism</a:t>
            </a:r>
            <a:endParaRPr/>
          </a:p>
        </p:txBody>
      </p:sp>
      <p:sp>
        <p:nvSpPr>
          <p:cNvPr id="891" name="Google Shape;891;p50"/>
          <p:cNvSpPr txBox="1"/>
          <p:nvPr/>
        </p:nvSpPr>
        <p:spPr>
          <a:xfrm>
            <a:off x="640080" y="44348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Pretender</a:t>
            </a:r>
            <a:endParaRPr/>
          </a:p>
        </p:txBody>
      </p:sp>
      <p:sp>
        <p:nvSpPr>
          <p:cNvPr id="892" name="Google Shape;892;p50"/>
          <p:cNvSpPr txBox="1"/>
          <p:nvPr/>
        </p:nvSpPr>
        <p:spPr>
          <a:xfrm>
            <a:off x="640080" y="4892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92 BPM</a:t>
            </a:r>
            <a:endParaRPr/>
          </a:p>
        </p:txBody>
      </p:sp>
      <p:sp>
        <p:nvSpPr>
          <p:cNvPr id="893" name="Google Shape;893;p50"/>
          <p:cNvSpPr/>
          <p:nvPr/>
        </p:nvSpPr>
        <p:spPr>
          <a:xfrm>
            <a:off x="4361688" y="4023360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0"/>
          <p:cNvSpPr txBox="1"/>
          <p:nvPr/>
        </p:nvSpPr>
        <p:spPr>
          <a:xfrm>
            <a:off x="4544568" y="41148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ヨルシカ</a:t>
            </a:r>
            <a:endParaRPr/>
          </a:p>
        </p:txBody>
      </p:sp>
      <p:sp>
        <p:nvSpPr>
          <p:cNvPr id="895" name="Google Shape;895;p50"/>
          <p:cNvSpPr txBox="1"/>
          <p:nvPr/>
        </p:nvSpPr>
        <p:spPr>
          <a:xfrm>
            <a:off x="4544568" y="44348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夜行</a:t>
            </a:r>
            <a:endParaRPr/>
          </a:p>
        </p:txBody>
      </p:sp>
      <p:sp>
        <p:nvSpPr>
          <p:cNvPr id="896" name="Google Shape;896;p50"/>
          <p:cNvSpPr txBox="1"/>
          <p:nvPr/>
        </p:nvSpPr>
        <p:spPr>
          <a:xfrm>
            <a:off x="4544568" y="4892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100 BPM</a:t>
            </a:r>
            <a:endParaRPr/>
          </a:p>
        </p:txBody>
      </p:sp>
      <p:sp>
        <p:nvSpPr>
          <p:cNvPr id="897" name="Google Shape;897;p50"/>
          <p:cNvSpPr/>
          <p:nvPr/>
        </p:nvSpPr>
        <p:spPr>
          <a:xfrm>
            <a:off x="8266175" y="4023360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F5F8FD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50"/>
          <p:cNvSpPr txBox="1"/>
          <p:nvPr/>
        </p:nvSpPr>
        <p:spPr>
          <a:xfrm>
            <a:off x="8449055" y="41148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優里</a:t>
            </a:r>
            <a:endParaRPr/>
          </a:p>
        </p:txBody>
      </p:sp>
      <p:sp>
        <p:nvSpPr>
          <p:cNvPr id="899" name="Google Shape;899;p50"/>
          <p:cNvSpPr txBox="1"/>
          <p:nvPr/>
        </p:nvSpPr>
        <p:spPr>
          <a:xfrm>
            <a:off x="8449055" y="44348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ドライフラワー</a:t>
            </a:r>
            <a:endParaRPr/>
          </a:p>
        </p:txBody>
      </p:sp>
      <p:sp>
        <p:nvSpPr>
          <p:cNvPr id="900" name="Google Shape;900;p50"/>
          <p:cNvSpPr txBox="1"/>
          <p:nvPr/>
        </p:nvSpPr>
        <p:spPr>
          <a:xfrm>
            <a:off x="8449055" y="4892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78 BPM（緩やか）</a:t>
            </a:r>
            <a:endParaRPr/>
          </a:p>
        </p:txBody>
      </p:sp>
      <p:sp>
        <p:nvSpPr>
          <p:cNvPr id="901" name="Google Shape;901;p50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→ スキップのリズムは「気持ちよく聴ける音楽のテンポ」と物理的に同期する</a:t>
            </a:r>
            <a:endParaRPr/>
          </a:p>
        </p:txBody>
      </p:sp>
      <p:sp>
        <p:nvSpPr>
          <p:cNvPr id="902" name="Google Shape;902;p5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903" name="Google Shape;903;p5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50 / 54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5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910" name="Google Shape;9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51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 CONCLUSION</a:t>
            </a:r>
            <a:endParaRPr/>
          </a:p>
        </p:txBody>
      </p:sp>
      <p:sp>
        <p:nvSpPr>
          <p:cNvPr id="912" name="Google Shape;912;p51"/>
          <p:cNvSpPr txBox="1"/>
          <p:nvPr/>
        </p:nvSpPr>
        <p:spPr>
          <a:xfrm>
            <a:off x="457200" y="1371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FINAL CONCLUSION</a:t>
            </a:r>
            <a:endParaRPr/>
          </a:p>
        </p:txBody>
      </p:sp>
      <p:sp>
        <p:nvSpPr>
          <p:cNvPr id="913" name="Google Shape;913;p51"/>
          <p:cNvSpPr txBox="1"/>
          <p:nvPr/>
        </p:nvSpPr>
        <p:spPr>
          <a:xfrm>
            <a:off x="457200" y="2286000"/>
            <a:ext cx="11430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急いでいる時は</a:t>
            </a:r>
            <a:br>
              <a:rPr b="1" lang="ja-JP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ja-JP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スキップで移動することを</a:t>
            </a:r>
            <a:br>
              <a:rPr b="1" lang="ja-JP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ja-JP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お勧めします</a:t>
            </a:r>
            <a:endParaRPr/>
          </a:p>
        </p:txBody>
      </p:sp>
      <p:sp>
        <p:nvSpPr>
          <p:cNvPr id="914" name="Google Shape;914;p5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915" name="Google Shape;915;p5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51 / 54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921" name="Google Shape;92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52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 CONCLUSION</a:t>
            </a:r>
            <a:endParaRPr/>
          </a:p>
        </p:txBody>
      </p:sp>
      <p:sp>
        <p:nvSpPr>
          <p:cNvPr id="923" name="Google Shape;923;p52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2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なぜスキップを推奨するのか ─ 5 つの根拠</a:t>
            </a:r>
            <a:endParaRPr/>
          </a:p>
        </p:txBody>
      </p:sp>
      <p:sp>
        <p:nvSpPr>
          <p:cNvPr id="924" name="Google Shape;924;p52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52"/>
          <p:cNvSpPr/>
          <p:nvPr/>
        </p:nvSpPr>
        <p:spPr>
          <a:xfrm>
            <a:off x="457200" y="1828800"/>
            <a:ext cx="219456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2"/>
          <p:cNvSpPr/>
          <p:nvPr/>
        </p:nvSpPr>
        <p:spPr>
          <a:xfrm>
            <a:off x="457200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2"/>
          <p:cNvSpPr txBox="1"/>
          <p:nvPr/>
        </p:nvSpPr>
        <p:spPr>
          <a:xfrm>
            <a:off x="457200" y="1874519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8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/>
          </a:p>
        </p:txBody>
      </p:sp>
      <p:sp>
        <p:nvSpPr>
          <p:cNvPr id="928" name="Google Shape;928;p52"/>
          <p:cNvSpPr txBox="1"/>
          <p:nvPr/>
        </p:nvSpPr>
        <p:spPr>
          <a:xfrm>
            <a:off x="548640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速度</a:t>
            </a:r>
            <a:endParaRPr/>
          </a:p>
        </p:txBody>
      </p:sp>
      <p:sp>
        <p:nvSpPr>
          <p:cNvPr id="929" name="Google Shape;929;p52"/>
          <p:cNvSpPr txBox="1"/>
          <p:nvPr/>
        </p:nvSpPr>
        <p:spPr>
          <a:xfrm>
            <a:off x="582658" y="3771207"/>
            <a:ext cx="1920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走るの 90% 以上維持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青空はスキップが速い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4名平均 94.4%</a:t>
            </a:r>
            <a:endParaRPr/>
          </a:p>
        </p:txBody>
      </p:sp>
      <p:sp>
        <p:nvSpPr>
          <p:cNvPr id="930" name="Google Shape;930;p52"/>
          <p:cNvSpPr/>
          <p:nvPr/>
        </p:nvSpPr>
        <p:spPr>
          <a:xfrm>
            <a:off x="2788920" y="1828800"/>
            <a:ext cx="219456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2"/>
          <p:cNvSpPr/>
          <p:nvPr/>
        </p:nvSpPr>
        <p:spPr>
          <a:xfrm>
            <a:off x="2788920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52"/>
          <p:cNvSpPr txBox="1"/>
          <p:nvPr/>
        </p:nvSpPr>
        <p:spPr>
          <a:xfrm>
            <a:off x="2788920" y="1874519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8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/>
          </a:p>
        </p:txBody>
      </p:sp>
      <p:sp>
        <p:nvSpPr>
          <p:cNvPr id="933" name="Google Shape;933;p52"/>
          <p:cNvSpPr txBox="1"/>
          <p:nvPr/>
        </p:nvSpPr>
        <p:spPr>
          <a:xfrm>
            <a:off x="2880360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リズム</a:t>
            </a:r>
            <a:endParaRPr/>
          </a:p>
        </p:txBody>
      </p:sp>
      <p:sp>
        <p:nvSpPr>
          <p:cNvPr id="934" name="Google Shape;934;p52"/>
          <p:cNvSpPr txBox="1"/>
          <p:nvPr/>
        </p:nvSpPr>
        <p:spPr>
          <a:xfrm>
            <a:off x="2926080" y="3703321"/>
            <a:ext cx="1920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ピッチは走るの半分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90-103 BPM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マリーゴールドと同テンポ ♪</a:t>
            </a:r>
            <a:endParaRPr/>
          </a:p>
        </p:txBody>
      </p:sp>
      <p:sp>
        <p:nvSpPr>
          <p:cNvPr id="935" name="Google Shape;935;p52"/>
          <p:cNvSpPr/>
          <p:nvPr/>
        </p:nvSpPr>
        <p:spPr>
          <a:xfrm>
            <a:off x="5120640" y="1828800"/>
            <a:ext cx="219456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52"/>
          <p:cNvSpPr/>
          <p:nvPr/>
        </p:nvSpPr>
        <p:spPr>
          <a:xfrm>
            <a:off x="5120640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52"/>
          <p:cNvSpPr txBox="1"/>
          <p:nvPr/>
        </p:nvSpPr>
        <p:spPr>
          <a:xfrm>
            <a:off x="5120640" y="1874519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8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/>
          </a:p>
        </p:txBody>
      </p:sp>
      <p:sp>
        <p:nvSpPr>
          <p:cNvPr id="938" name="Google Shape;938;p52"/>
          <p:cNvSpPr txBox="1"/>
          <p:nvPr/>
        </p:nvSpPr>
        <p:spPr>
          <a:xfrm>
            <a:off x="5212080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対称性</a:t>
            </a:r>
            <a:endParaRPr/>
          </a:p>
        </p:txBody>
      </p:sp>
      <p:sp>
        <p:nvSpPr>
          <p:cNvPr id="939" name="Google Shape;939;p52"/>
          <p:cNvSpPr txBox="1"/>
          <p:nvPr/>
        </p:nvSpPr>
        <p:spPr>
          <a:xfrm>
            <a:off x="5257800" y="3716252"/>
            <a:ext cx="1920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4人中3人が左右非対称度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0.0%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左右バランス◎</a:t>
            </a:r>
            <a:endParaRPr/>
          </a:p>
        </p:txBody>
      </p:sp>
      <p:sp>
        <p:nvSpPr>
          <p:cNvPr id="940" name="Google Shape;940;p52"/>
          <p:cNvSpPr/>
          <p:nvPr/>
        </p:nvSpPr>
        <p:spPr>
          <a:xfrm>
            <a:off x="7452359" y="1828800"/>
            <a:ext cx="219456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52"/>
          <p:cNvSpPr/>
          <p:nvPr/>
        </p:nvSpPr>
        <p:spPr>
          <a:xfrm>
            <a:off x="7452359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2"/>
          <p:cNvSpPr txBox="1"/>
          <p:nvPr/>
        </p:nvSpPr>
        <p:spPr>
          <a:xfrm>
            <a:off x="7452359" y="1874519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8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/>
          </a:p>
        </p:txBody>
      </p:sp>
      <p:sp>
        <p:nvSpPr>
          <p:cNvPr id="943" name="Google Shape;943;p52"/>
          <p:cNvSpPr txBox="1"/>
          <p:nvPr/>
        </p:nvSpPr>
        <p:spPr>
          <a:xfrm>
            <a:off x="7543799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習得不要</a:t>
            </a:r>
            <a:endParaRPr/>
          </a:p>
        </p:txBody>
      </p:sp>
      <p:sp>
        <p:nvSpPr>
          <p:cNvPr id="944" name="Google Shape;944;p52"/>
          <p:cNvSpPr txBox="1"/>
          <p:nvPr/>
        </p:nvSpPr>
        <p:spPr>
          <a:xfrm>
            <a:off x="7589519" y="3703320"/>
            <a:ext cx="1920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CWT 個人差 σ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= 0.08 Hz（最小）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誰でも同じリズム</a:t>
            </a:r>
            <a:endParaRPr b="0" sz="11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2"/>
          <p:cNvSpPr/>
          <p:nvPr/>
        </p:nvSpPr>
        <p:spPr>
          <a:xfrm>
            <a:off x="9784080" y="1828800"/>
            <a:ext cx="219456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C419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52"/>
          <p:cNvSpPr/>
          <p:nvPr/>
        </p:nvSpPr>
        <p:spPr>
          <a:xfrm>
            <a:off x="9784080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2"/>
          <p:cNvSpPr txBox="1"/>
          <p:nvPr/>
        </p:nvSpPr>
        <p:spPr>
          <a:xfrm>
            <a:off x="9784080" y="1874519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38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/>
          </a:p>
        </p:txBody>
      </p:sp>
      <p:sp>
        <p:nvSpPr>
          <p:cNvPr id="948" name="Google Shape;948;p52"/>
          <p:cNvSpPr txBox="1"/>
          <p:nvPr/>
        </p:nvSpPr>
        <p:spPr>
          <a:xfrm>
            <a:off x="9875520" y="2743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5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動作の安定</a:t>
            </a:r>
            <a:endParaRPr/>
          </a:p>
        </p:txBody>
      </p:sp>
      <p:sp>
        <p:nvSpPr>
          <p:cNvPr id="949" name="Google Shape;949;p52"/>
          <p:cNvSpPr txBox="1"/>
          <p:nvPr/>
        </p:nvSpPr>
        <p:spPr>
          <a:xfrm>
            <a:off x="9921240" y="3771207"/>
            <a:ext cx="1920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DTW 波形ばらつき σ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= ±6.4（最小）</a:t>
            </a:r>
            <a:b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ja-JP" sz="11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4 人とも同じ形をなぞる</a:t>
            </a:r>
            <a:endParaRPr b="0" sz="11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52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231815"/>
                </a:solidFill>
                <a:latin typeface="Arial"/>
                <a:ea typeface="Arial"/>
                <a:cs typeface="Arial"/>
                <a:sym typeface="Arial"/>
              </a:rPr>
              <a:t>走るのがしんどい・歩くのは遅い、という場面において、スキップは合理的かつ楽しい選択肢である</a:t>
            </a:r>
            <a:endParaRPr b="1" sz="1300">
              <a:solidFill>
                <a:srgbClr val="2318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952" name="Google Shape;952;p5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52 / 54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3"/>
          <p:cNvSpPr/>
          <p:nvPr/>
        </p:nvSpPr>
        <p:spPr>
          <a:xfrm>
            <a:off x="30632" y="923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958" name="Google Shape;95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335" y="228600"/>
            <a:ext cx="146304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5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960" name="Google Shape;960;p53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2800">
                <a:solidFill>
                  <a:srgbClr val="2C4198"/>
                </a:solidFill>
                <a:latin typeface="Arial"/>
                <a:ea typeface="Arial"/>
                <a:cs typeface="Arial"/>
                <a:sym typeface="Arial"/>
              </a:rPr>
              <a:t>参考文献</a:t>
            </a:r>
            <a:endParaRPr/>
          </a:p>
        </p:txBody>
      </p:sp>
      <p:sp>
        <p:nvSpPr>
          <p:cNvPr id="961" name="Google Shape;961;p53"/>
          <p:cNvSpPr/>
          <p:nvPr/>
        </p:nvSpPr>
        <p:spPr>
          <a:xfrm>
            <a:off x="457200" y="169164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3"/>
          <p:cNvSpPr txBox="1"/>
          <p:nvPr/>
        </p:nvSpPr>
        <p:spPr>
          <a:xfrm>
            <a:off x="411475" y="1786662"/>
            <a:ext cx="11430000" cy="4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[1] 和田成夫. よくわかる信号処理 ── フーリエ解析からウェーブレット変換まで. 森北出版, 2009.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[2] 中野宏毅ほか. ウェーブレットによる信号処理と画像処理. 共立出版, 1999.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[3] 横井真也ほか. スポーツ映像から抽出した時系列多次元データのアラインメント.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    映像情報メディア学会技術報告 ITE-ME2018-115, 2018.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[4] 田向権. Python で学ぶフーリエ解析と信号処理. コロナ社, 2020.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[5] 山田昇吾, 高柳英明. 歩きやすさ評価を目的とした歩行加速度特性に関する研究.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    日本建築学会技術報告集 29(72): 999-1004, 2023.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[6] 芥川友彬ほか. 加速度センサを用いた歩行分析の妥当性. 保健医療学雑誌 6(1): 10-14, 2015.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[7] 畠中泰彦. 歩行分析入門 ── 臨床，研究に役立てるために. Jpn J Rehabil Med 63(2): 171-178, 2026.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[8] ソニー株式会社. mocopi モバイルモーションキャプチャー 技術仕様.</a:t>
            </a:r>
            <a:endParaRPr b="1" sz="1300">
              <a:solidFill>
                <a:srgbClr val="2C419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1" lang="ja-JP" sz="1300">
                <a:solidFill>
                  <a:srgbClr val="2C4198"/>
                </a:solidFill>
              </a:rPr>
              <a:t>    https://www.sony.jp/mocopi/feature/ (参照 2026-05-21).</a:t>
            </a:r>
            <a:endParaRPr b="1" sz="2400">
              <a:solidFill>
                <a:srgbClr val="2C4198"/>
              </a:solidFill>
            </a:endParaRPr>
          </a:p>
        </p:txBody>
      </p:sp>
      <p:sp>
        <p:nvSpPr>
          <p:cNvPr id="963" name="Google Shape;963;p53"/>
          <p:cNvSpPr txBox="1"/>
          <p:nvPr/>
        </p:nvSpPr>
        <p:spPr>
          <a:xfrm>
            <a:off x="457200" y="6592915"/>
            <a:ext cx="7315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964" name="Google Shape;964;p5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53 / 54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1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DD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ogakuin_logo.png" id="971" name="Google Shape;97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914400"/>
            <a:ext cx="228600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54"/>
          <p:cNvSpPr txBox="1"/>
          <p:nvPr/>
        </p:nvSpPr>
        <p:spPr>
          <a:xfrm>
            <a:off x="457200" y="2743200"/>
            <a:ext cx="1143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ご清聴ありがとうございました</a:t>
            </a:r>
            <a:endParaRPr/>
          </a:p>
        </p:txBody>
      </p:sp>
      <p:sp>
        <p:nvSpPr>
          <p:cNvPr id="973" name="Google Shape;973;p54"/>
          <p:cNvSpPr txBox="1"/>
          <p:nvPr/>
        </p:nvSpPr>
        <p:spPr>
          <a:xfrm>
            <a:off x="457200" y="429768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800">
                <a:solidFill>
                  <a:srgbClr val="FDD000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 BVH動作解析レポート</a:t>
            </a:r>
            <a:endParaRPr/>
          </a:p>
        </p:txBody>
      </p:sp>
      <p:sp>
        <p:nvSpPr>
          <p:cNvPr id="974" name="Google Shape;974;p54"/>
          <p:cNvSpPr txBox="1"/>
          <p:nvPr/>
        </p:nvSpPr>
        <p:spPr>
          <a:xfrm>
            <a:off x="457200" y="4937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情報学部 情報科学科  ─  平松 瑠希</a:t>
            </a:r>
            <a:endParaRPr/>
          </a:p>
        </p:txBody>
      </p:sp>
      <p:sp>
        <p:nvSpPr>
          <p:cNvPr id="975" name="Google Shape;975;p5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知能情報科学セミナーⅠ ── 平松瑠希 ── 工学院大学</a:t>
            </a:r>
            <a:endParaRPr/>
          </a:p>
        </p:txBody>
      </p:sp>
      <p:sp>
        <p:nvSpPr>
          <p:cNvPr id="976" name="Google Shape;976;p5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ja-JP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54 / 54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