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320040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4198"/>
                </a:solidFill>
                <a:latin typeface="Hiragino Sans"/>
              </a:rPr>
              <a:t>知能情報科学セミナーⅠ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2C4198"/>
                </a:solidFill>
                <a:latin typeface="Hiragino Sans"/>
              </a:rPr>
              <a:t>モーションキャプチャによる
歩行・走行・スキップの定量解析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8288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Hiragino Sans"/>
              </a:rPr>
              <a:t>自己相関 (ACF) ・ 相互相関 (CCF) ・ 連続ウェーブレット変換 (CWT) ・ 動的時間伸縮 (DTW)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31815"/>
                </a:solidFill>
                <a:latin typeface="Hiragino Sans"/>
              </a:rPr>
              <a:t>情報学部 情報科学科 3年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平松 瑠希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01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C4198"/>
                </a:solidFill>
                <a:latin typeface="Hiragino Sans"/>
              </a:rPr>
              <a:t>背景・目的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31815"/>
                </a:solidFill>
                <a:latin typeface="Hiragino Sans"/>
              </a:rPr>
              <a:t>本レポートは、知能情報科学セミナーⅠで学んだ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4198"/>
                </a:solidFill>
                <a:latin typeface="Hiragino Sans"/>
              </a:rPr>
              <a:t>FFT に基づく自己相関 (ACF) ・相互相関 (CCF) の理論を実データに適用する実践演習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研究の問い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31815"/>
                </a:solidFill>
                <a:latin typeface="Hiragino Sans"/>
              </a:rPr>
              <a:t>●  「歩く・走る・スキップ」の動作にはどのようなリズム特性があるか？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31815"/>
                </a:solidFill>
                <a:latin typeface="Hiragino Sans"/>
              </a:rPr>
              <a:t>●  同じ動作でも個人差・左右差はどう現れるか？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31815"/>
                </a:solidFill>
                <a:latin typeface="Hiragino Sans"/>
              </a:rPr>
              <a:t>●  歩き方の癖・腕振りパターンは ACF でどこまで定量化できるか？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31815"/>
                </a:solidFill>
                <a:latin typeface="Hiragino Sans"/>
              </a:rPr>
              <a:t>●  そして、最も移動効率の良い動作は何か？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02 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C4198"/>
                </a:solidFill>
                <a:latin typeface="Hiragino Sans"/>
              </a:rPr>
              <a:t>計測データ概要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31815"/>
                </a:solidFill>
                <a:latin typeface="Hiragino Sans"/>
              </a:rPr>
              <a:t>●  計測機器: mocopi（ソニー製モーションキャプチャ・IMU センサー 6 個）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31815"/>
                </a:solidFill>
                <a:latin typeface="Hiragino Sans"/>
              </a:rPr>
              <a:t>●  フォーマット: BVH (BioVision Hierarchy) / 60 Hz サンプリング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31815"/>
                </a:solidFill>
                <a:latin typeface="Hiragino Sans"/>
              </a:rPr>
              <a:t>●  被験者: 三橋青空・長岡翔太・平松瑠希・松田宣久 の 4 名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31815"/>
                </a:solidFill>
                <a:latin typeface="Hiragino Sans"/>
              </a:rPr>
              <a:t>●  動作: 歩く・走る・スキップ × 4 名 = 計 12 サンプル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31815"/>
                </a:solidFill>
                <a:latin typeface="Hiragino Sans"/>
              </a:rPr>
              <a:t>●  記録項目: root の絶対位置 + 25 関節の回転角（うち 6 関節は IMU 実測、19 関節は AI 補完）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解析対象信号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31815"/>
                </a:solidFill>
                <a:latin typeface="Hiragino Sans"/>
              </a:rPr>
              <a:t>主：root の鉛直加速度（歩行リズム検出） / 副：左右足首の Xrotation（背屈・底屈 ＝ つま先↑↓）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03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C4198"/>
                </a:solidFill>
                <a:latin typeface="Hiragino Sans"/>
              </a:rPr>
              <a:t>解析手法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① ストライド周期 T（ACF）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31815"/>
                </a:solidFill>
                <a:latin typeface="Menlo"/>
              </a:rPr>
              <a:t>ACF(τ) = IFFT(|X(f)|²)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Hiragino Sans"/>
              </a:rPr>
              <a:t>ウィーナー＝ヒンチン定理 / 最初の有意ピーク（&gt;0.15）を T と推定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202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② 歩調・歩数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8346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31815"/>
                </a:solidFill>
                <a:latin typeface="Menlo"/>
              </a:rPr>
              <a:t>cadence = 1 / T  [Hz]
steps = (duration / T) ×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7548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Hiragino Sans"/>
              </a:rPr>
              <a:t>1 秒あたりのステップ数 / 計測時間内の総歩数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9202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③ 左右対称性スコア（CCF）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5" y="28346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31815"/>
                </a:solidFill>
                <a:latin typeface="Menlo"/>
              </a:rPr>
              <a:t>CCF(τ) = IFFT(X*(f) · Y(f))
Score = 0.6·RMS比 + 0.3·位相差 + 0.1·CCFピーク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47548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Hiragino Sans"/>
              </a:rPr>
              <a:t>100 点満点の対称性スコア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C4198"/>
                </a:solidFill>
                <a:latin typeface="Hiragino Sans"/>
              </a:rPr>
              <a:t>瑠希・歩くを教材に、グラフの読み方を学ぶ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430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31815"/>
                </a:solidFill>
                <a:latin typeface="Hiragino Sans"/>
              </a:rPr>
              <a:t>12 サンプル × 各 3 枚 = 36 枚以上のグラフが続く。
いきなり全部見ても何が大事かわかりにくいので、
ここでは「瑠希・歩く」を題材に、グラフを 6 ステップで読み解く方法を示す。
ここで読み方を身につければ、後続の 11 サンプルも同じ要領で読める。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1  腰の上下動を見る ─ 歩行リズムの正体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2  足首のリズムは腰の「半分」 ─ 2 倍周期の謎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3  左右の足を重ねる ─ 半周期ずれて動く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4  自己相関（ACF）でリズムを数値化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5  相互相関（CCF）で左右対称性を数値化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6  対称性スコアの内訳 ─ 何が個性か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腰の上下動を見る ─ 歩行リズムの正体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1_root_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07" y="1691640"/>
            <a:ext cx="98348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1463040"/>
          </a:xfrm>
          <a:prstGeom prst="roundRect">
            <a:avLst>
              <a:gd name="adj" fmla="val 5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9728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Sans"/>
              </a:rPr>
              <a:t>ピーク間隔の平均 ≈ 0.56 s ＝ 半ストライド（T/2）。腰は 1 ストライドの間に 2 回上下する。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足首のリズムは腰の「半分」 ─ 2 倍周期の謎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2_root_vs_fo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151" y="1691640"/>
            <a:ext cx="8851392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1463040"/>
          </a:xfrm>
          <a:prstGeom prst="roundRect">
            <a:avLst>
              <a:gd name="adj" fmla="val 5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9728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Sans"/>
              </a:rPr>
              <a:t>左足は 1 ストライドに 1 回しか動かないが、腰は 2 回上下する。だから足首の周期 1.05 s ≈ 腰の周期 0.53 s × 2。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左右の足を重ねる ─ 半周期ずれて動く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3_left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07" y="1691640"/>
            <a:ext cx="98348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1463040"/>
          </a:xfrm>
          <a:prstGeom prst="roundRect">
            <a:avLst>
              <a:gd name="adj" fmla="val 5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9728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Sans"/>
              </a:rPr>
              <a:t>左右ピーク間 ≈ 0.58 s ＝ T/2。これが「交互ステップ」の数学的定義。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ACF でリズムを数値化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4_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07" y="1691640"/>
            <a:ext cx="98348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1463040"/>
          </a:xfrm>
          <a:prstGeom prst="roundRect">
            <a:avLst>
              <a:gd name="adj" fmla="val 5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9728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Sans"/>
              </a:rPr>
              <a:t>τ = 0.53 s でピーク → ストライド周期 T。歩調 1.87 Hz ＝ 112 BPM。2 秒以上ピークが残る = 規則的で安定。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CCF で左右対称性を数値化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5_c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07" y="1691640"/>
            <a:ext cx="98348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1463040"/>
          </a:xfrm>
          <a:prstGeom prst="roundRect">
            <a:avLst>
              <a:gd name="adj" fmla="val 5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9728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Sans"/>
              </a:rPr>
              <a:t>ピーク位置 -0.517 s ≈ 理想 -T/2 = -0.533 s。差わずか 0.016 s ─ 完璧な交互ステップ。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対称性スコアの内訳 ─ 「何が個性か」を読む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6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487" y="1691640"/>
            <a:ext cx="804672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1463040"/>
          </a:xfrm>
          <a:prstGeom prst="roundRect">
            <a:avLst>
              <a:gd name="adj" fmla="val 5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9728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Sans"/>
              </a:rPr>
              <a:t>84.3 点。タイミングはほぼ満点、RMS 比 0.81 で 19% の左右振幅差 → これが歩き方の癖。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連続ウェーブレット変換（CWT）─ 時間軸でリズムの揺らぎを追う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31815"/>
                </a:solidFill>
                <a:latin typeface="Hiragino Sans"/>
              </a:rPr>
              <a:t>ACF は「区間全体の平均的リズム」を 1 つの数値に落とすが、区間内でリズムがどう揺らいでいるかは見えない。
CWT は信号を 時間 × 周波数 の 2 次元マップ（ヒートマップ）に展開する。
「いつ・どの周波数が強かったか」が色で可視化される。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11277295" cy="182880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本レポートでの設定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母ウェーブレット: Morlet（時間-周波数のバランスが良い）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入力信号: 腰（root）の鉛直加速度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解析周波数帯: 0.5 〜 5 Hz（歩く 〜 走るまでカバー）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4 人分のパワーマップを時間軸で揃え、正規化 → 平均 → 人類共通のリズム帯を抽出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  CWT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CWT - 歩く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1.90 Hz（114 BPM）、個人差 σ = 0.32 Hz ─ 最も個性が出る</a:t>
            </a:r>
          </a:p>
        </p:txBody>
      </p:sp>
      <p:pic>
        <p:nvPicPr>
          <p:cNvPr id="8" name="Picture 7" descr="walk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767" y="1920240"/>
            <a:ext cx="585216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1.5〜2.2 Hz の幅で 4 人がばらつく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歩行は日常動作ゆえに個性が許容される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  CWT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CWT - 走る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3.06 Hz（184 BPM）、個人差 σ = 0.11 Hz ─ 5 秒後にロックオン</a:t>
            </a:r>
          </a:p>
        </p:txBody>
      </p:sp>
      <p:pic>
        <p:nvPicPr>
          <p:cNvPr id="8" name="Picture 7" descr="run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767" y="1920240"/>
            <a:ext cx="585216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0〜5 秒は加速期、5 秒以降に 3 Hz の明るい横帯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4 人とも同タイミングで同周波数に収束 ─ 人類共通リズム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  CWT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CWT - スキップ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2.18 Hz、個人差 σ = 0.08 Hz ─ 全動作中最小</a:t>
            </a:r>
          </a:p>
        </p:txBody>
      </p:sp>
      <p:pic>
        <p:nvPicPr>
          <p:cNvPr id="8" name="Picture 7" descr="skip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767" y="1920240"/>
            <a:ext cx="585216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複数の周波数帯（基本リズム + 高調波）が共存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「ステップ + ホップ」の複合動作だが優位周波数は最も揃う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 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4198"/>
                </a:solidFill>
                <a:latin typeface="Hiragino Sans"/>
              </a:rPr>
              <a:t>人間は速くなるほど「同じリズム」に収束する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Hiragino Sans"/>
                        </a:rPr>
                        <a:t>動作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Hiragino Sans"/>
                        </a:rPr>
                        <a:t>4 人平均 優位周波数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Hiragino Sans"/>
                        </a:rPr>
                        <a:t>個人差 σ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Hiragino Sans"/>
                        </a:rPr>
                        <a:t>解釈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歩く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1.90 Hz (114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±0.32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個人差 大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走る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3.06 Hz (184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±0.11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5 秒後にロックオン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スキップ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2.18 Hz (131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±0.08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1815"/>
                          </a:solidFill>
                          <a:latin typeface="Hiragino Sans"/>
                        </a:rPr>
                        <a:t>個人差 最小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937760"/>
            <a:ext cx="11277295" cy="1463040"/>
          </a:xfrm>
          <a:prstGeom prst="roundRect">
            <a:avLst>
              <a:gd name="adj" fmla="val 5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09728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解釈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iragino Sans"/>
              </a:rPr>
              <a:t>動作スピードが上がるほど個人差が縮む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Sans"/>
              </a:rPr>
              <a:t>物理的に最も効率の良いリズムが動作ごとに 1 つ存在し、人間は無意識にそこに収束する。歩行は『日常の動き』ゆえに個性が許容されるが、走るやスキップでは身体最適化が優先される。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4198"/>
                </a:solidFill>
                <a:latin typeface="Hiragino Sans"/>
              </a:rPr>
              <a:t>動的時間伸縮（DTW）─ 波形そのものの距離を測る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31815"/>
                </a:solidFill>
                <a:latin typeface="Hiragino Sans"/>
              </a:rPr>
              <a:t>ACF が「自分自身の周期」、CWT が「時間 × 周波数」を見るのに対し、
DTW は「2 つの波形の形そのもの」を比較する。
時間軸を伸び縮みさせて最も似た対応関係を探し、距離をスカラ値で出す。
「誰と誰がどれくらい似てるか」を 4×4 マトリクスで一望できる。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77295" cy="155448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本レポートでの設定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各人の左足首 Xrot から 1 ストライド分を抽出 → 200 サンプルにリサンプル + 振幅正規化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4 人 × 4 人 = 6 ペアで DTW 距離を計算 → 動作別マトリクス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  DTW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4 人ペアワイズ DTW 距離マトリクス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stance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1691640"/>
            <a:ext cx="10058400" cy="33659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色が薄い（黄）ほど波形が似ている、濃い（赤）ほど違う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走るの Sora ⇔ Nori だけ 216.3 と異常値 ─ 他は 23〜82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  DTW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動作ごとの平均距離 ─ 「ばらつき」で比較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stance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822" y="1691640"/>
            <a:ext cx="643405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歩く 30.5 ± 14.5 / 走る 78.2 ± 65.7 / スキップ 35.3 ± 6.4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標準偏差の小ささ = 4 人がどれだけ揃っているか ─ スキップが最小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  DTW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DTW の中身 ─ Ruki ⇔ Nori（歩く）の例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rping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1691640"/>
            <a:ext cx="10058400" cy="35922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左：2 人の波形と DTW が対応付けた点同士をグレー線で結ぶ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1815"/>
                </a:solidFill>
                <a:latin typeface="Hiragino Sans"/>
              </a:rPr>
              <a:t>●  右：累積コスト行列。赤線が「最も似た対応関係」のパス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 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C4198"/>
                </a:solidFill>
                <a:latin typeface="Hiragino Sans"/>
              </a:rPr>
              <a:t>2 手法とも同じ結論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スキップは人類共通、歩くは個性、走るには外れ値あり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31815"/>
                </a:solidFill>
                <a:latin typeface="Hiragino Sans"/>
              </a:rPr>
              <a:t>CWT（周波数のばらつき）と DTW（波形距離のばらつき）の
2 つの数学的に独立した手法が、ともに「スキップが最も 4 人で揃う」
「歩くは個人差が大きい」という同じ結論を出した。
これは偶然ではなく、動作の自由度（スキップ &lt; 走る ≈ 歩く）を
2 通りに測ったと解釈できる。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11277295" cy="1463040"/>
          </a:xfrm>
          <a:prstGeom prst="roundRect">
            <a:avLst>
              <a:gd name="adj" fmla="val 5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109728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iragino Sans"/>
              </a:rPr>
              <a:t>Sora ⇔ Nori（走る）の DTW 距離が 216 と異常値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Sans"/>
              </a:rPr>
              <a:t>他のペアは 23〜82 の範囲だが、このペアだけ突出。リズムは同じ 3 Hz でも、波形そのものの形が大きく違う ─ 動画を見直す価値あり。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28600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C4198"/>
                </a:solidFill>
                <a:latin typeface="Hiragino Sans"/>
              </a:rPr>
              <a:t>参考文献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C4198"/>
                </a:solidFill>
                <a:latin typeface="Hiragino Sans"/>
              </a:rPr>
              <a:t>[分析] </a:t>
            </a:r>
            <a:r>
              <a:rPr sz="1100">
                <a:solidFill>
                  <a:srgbClr val="231815"/>
                </a:solidFill>
                <a:latin typeface="Hiragino Sans"/>
              </a:rPr>
              <a:t>[1] Cooley, J. W. and Tukey, J. W. (1965). An Algorithm for the Machine Calculation of Complex Fourier Series. Mathematics of Computation, 19(90), 297–301.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C4198"/>
                </a:solidFill>
                <a:latin typeface="Hiragino Sans"/>
              </a:rPr>
              <a:t>[分析] </a:t>
            </a:r>
            <a:r>
              <a:rPr sz="1100">
                <a:solidFill>
                  <a:srgbClr val="231815"/>
                </a:solidFill>
                <a:latin typeface="Hiragino Sans"/>
              </a:rPr>
              <a:t>[2] Sakoe, H. and Chiba, S. (1978). Dynamic Programming Algorithm Optimization for Spoken Word Recognition. IEEE TASSP, 26(1), 43–49.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C4198"/>
                </a:solidFill>
                <a:latin typeface="Hiragino Sans"/>
              </a:rPr>
              <a:t>[分析] </a:t>
            </a:r>
            <a:r>
              <a:rPr sz="1100">
                <a:solidFill>
                  <a:srgbClr val="231815"/>
                </a:solidFill>
                <a:latin typeface="Hiragino Sans"/>
              </a:rPr>
              <a:t>[3] Mallat, S. G. (1989). A Theory for Multiresolution Signal Decomposition. IEEE PAMI, 11(7), 674–693.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C4198"/>
                </a:solidFill>
                <a:latin typeface="Hiragino Sans"/>
              </a:rPr>
              <a:t>[分析] </a:t>
            </a:r>
            <a:r>
              <a:rPr sz="1100">
                <a:solidFill>
                  <a:srgbClr val="231815"/>
                </a:solidFill>
                <a:latin typeface="Hiragino Sans"/>
              </a:rPr>
              <a:t>[4] Torrence, C. and Compo, G. P. (1998). A Practical Guide to Wavelet Analysis. BAMS, 79(1), 61–78.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[5] Cavagna, G. A., Heglund, N. C. and Taylor, C. R. (1977). Mechanical work in terrestrial locomotion. Am J Physiol, 233(5), R243–R261.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[6] Alexander, R. McN. (1989). Optimization and gaits in the locomotion of vertebrates. Physiol Rev, 69(4), 1199–1227.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[7] Hreljac, A. (1995). Determinants of the gait transition speed during human locomotion. J Biomech, 28(6), 669–677.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[8] Minetti, A. E. (1998). The biomechanics of skipping gaits: a third locomotion paradigm? Proc R Soc B, 265(1402), 1227–1235.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[9] Pavei, G. et al. (2015). Skipping vs. running as the bipedal gait of choice in hypogravity. J Appl Physiol, 119(1), 93–100.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2286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0"/>
            <a:ext cx="11430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Hiragino Sans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DD000"/>
                </a:solidFill>
                <a:latin typeface="Hiragino Sans"/>
              </a:rPr>
              <a:t>知能情報科学セミナーⅠ ─ BVH動作解析レポート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Hiragino Sans"/>
              </a:rPr>
              <a:t>情報学部 情報科学科  ─  平松 瑠希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Hiragino Sans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